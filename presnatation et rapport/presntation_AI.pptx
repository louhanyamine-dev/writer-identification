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Helvetica World" panose="020B0604020202020204" charset="-128"/>
      <p:regular r:id="rId19"/>
    </p:embeddedFont>
    <p:embeddedFont>
      <p:font typeface="Helvetica World Bold" panose="020B0604020202020204" charset="-128"/>
      <p:regular r:id="rId20"/>
    </p:embeddedFont>
    <p:embeddedFont>
      <p:font typeface="Arimo" panose="020B0604020202020204" charset="0"/>
      <p:regular r:id="rId21"/>
    </p:embeddedFont>
    <p:embeddedFont>
      <p:font typeface="Times New Roman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4622" autoAdjust="0"/>
  </p:normalViewPr>
  <p:slideViewPr>
    <p:cSldViewPr>
      <p:cViewPr varScale="1">
        <p:scale>
          <a:sx n="51" d="100"/>
          <a:sy n="51" d="100"/>
        </p:scale>
        <p:origin x="29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1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1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1.sv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1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1.sv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1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1.sv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9.svg"/><Relationship Id="rId7" Type="http://schemas.openxmlformats.org/officeDocument/2006/relationships/image" Target="../media/image1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1.sv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1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1.sv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1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1.sv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26.sv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13.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1.sv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73678" y="2866088"/>
            <a:ext cx="14366837" cy="3850247"/>
          </a:xfrm>
          <a:prstGeom prst="rect">
            <a:avLst/>
          </a:prstGeom>
        </p:spPr>
        <p:txBody>
          <a:bodyPr lIns="0" tIns="0" rIns="0" bIns="0" rtlCol="0" anchor="t">
            <a:spAutoFit/>
          </a:bodyPr>
          <a:lstStyle/>
          <a:p>
            <a:pPr algn="ctr">
              <a:lnSpc>
                <a:spcPts val="9810"/>
              </a:lnSpc>
            </a:pPr>
            <a:r>
              <a:rPr lang="en-US" sz="9810" b="1" spc="294" dirty="0">
                <a:solidFill>
                  <a:srgbClr val="11680C"/>
                </a:solidFill>
                <a:latin typeface="Times New Roman Bold"/>
                <a:ea typeface="Times New Roman Bold"/>
                <a:cs typeface="Times New Roman Bold"/>
                <a:sym typeface="Times New Roman Bold"/>
              </a:rPr>
              <a:t>SYSTÈME D'IDENTIFICATION DES ÉCRIVAINS</a:t>
            </a:r>
          </a:p>
        </p:txBody>
      </p:sp>
      <p:sp>
        <p:nvSpPr>
          <p:cNvPr id="3" name="Freeform 3"/>
          <p:cNvSpPr/>
          <p:nvPr/>
        </p:nvSpPr>
        <p:spPr>
          <a:xfrm flipH="1" flipV="1">
            <a:off x="12244928" y="4366394"/>
            <a:ext cx="6251900" cy="6251900"/>
          </a:xfrm>
          <a:custGeom>
            <a:avLst/>
            <a:gdLst/>
            <a:ahLst/>
            <a:cxnLst/>
            <a:rect l="l" t="t" r="r" b="b"/>
            <a:pathLst>
              <a:path w="6251900" h="6251900">
                <a:moveTo>
                  <a:pt x="6251899" y="6251899"/>
                </a:moveTo>
                <a:lnTo>
                  <a:pt x="0" y="6251899"/>
                </a:lnTo>
                <a:lnTo>
                  <a:pt x="0" y="0"/>
                </a:lnTo>
                <a:lnTo>
                  <a:pt x="6251899" y="0"/>
                </a:lnTo>
                <a:lnTo>
                  <a:pt x="6251899" y="6251899"/>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3525723" y="7444047"/>
            <a:ext cx="486295" cy="4114800"/>
          </a:xfrm>
          <a:custGeom>
            <a:avLst/>
            <a:gdLst/>
            <a:ahLst/>
            <a:cxnLst/>
            <a:rect l="l" t="t" r="r" b="b"/>
            <a:pathLst>
              <a:path w="486295" h="4114800">
                <a:moveTo>
                  <a:pt x="0" y="0"/>
                </a:moveTo>
                <a:lnTo>
                  <a:pt x="486295" y="0"/>
                </a:lnTo>
                <a:lnTo>
                  <a:pt x="48629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542405" y="5225914"/>
            <a:ext cx="486295" cy="4114800"/>
          </a:xfrm>
          <a:custGeom>
            <a:avLst/>
            <a:gdLst/>
            <a:ahLst/>
            <a:cxnLst/>
            <a:rect l="l" t="t" r="r" b="b"/>
            <a:pathLst>
              <a:path w="486295" h="4114800">
                <a:moveTo>
                  <a:pt x="0" y="0"/>
                </a:moveTo>
                <a:lnTo>
                  <a:pt x="486295" y="0"/>
                </a:lnTo>
                <a:lnTo>
                  <a:pt x="48629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0" y="-1"/>
            <a:ext cx="7038097" cy="2093069"/>
          </a:xfrm>
          <a:custGeom>
            <a:avLst/>
            <a:gdLst/>
            <a:ahLst/>
            <a:cxnLst/>
            <a:rect l="l" t="t" r="r" b="b"/>
            <a:pathLst>
              <a:path w="7038097" h="2093069">
                <a:moveTo>
                  <a:pt x="0" y="0"/>
                </a:moveTo>
                <a:lnTo>
                  <a:pt x="7038097" y="0"/>
                </a:lnTo>
                <a:lnTo>
                  <a:pt x="7038097" y="2093069"/>
                </a:lnTo>
                <a:lnTo>
                  <a:pt x="0" y="2093069"/>
                </a:lnTo>
                <a:lnTo>
                  <a:pt x="0" y="0"/>
                </a:lnTo>
                <a:close/>
              </a:path>
            </a:pathLst>
          </a:custGeom>
          <a:blipFill>
            <a:blip r:embed="rId6"/>
            <a:stretch>
              <a:fillRect/>
            </a:stretch>
          </a:blipFill>
        </p:spPr>
      </p:sp>
      <p:sp>
        <p:nvSpPr>
          <p:cNvPr id="7" name="Freeform 7"/>
          <p:cNvSpPr/>
          <p:nvPr/>
        </p:nvSpPr>
        <p:spPr>
          <a:xfrm>
            <a:off x="11585191" y="0"/>
            <a:ext cx="6702809" cy="2093069"/>
          </a:xfrm>
          <a:custGeom>
            <a:avLst/>
            <a:gdLst/>
            <a:ahLst/>
            <a:cxnLst/>
            <a:rect l="l" t="t" r="r" b="b"/>
            <a:pathLst>
              <a:path w="6702809" h="2093069">
                <a:moveTo>
                  <a:pt x="0" y="0"/>
                </a:moveTo>
                <a:lnTo>
                  <a:pt x="6702809" y="0"/>
                </a:lnTo>
                <a:lnTo>
                  <a:pt x="6702809" y="2093069"/>
                </a:lnTo>
                <a:lnTo>
                  <a:pt x="0" y="2093069"/>
                </a:lnTo>
                <a:lnTo>
                  <a:pt x="0" y="0"/>
                </a:lnTo>
                <a:close/>
              </a:path>
            </a:pathLst>
          </a:custGeom>
          <a:blipFill>
            <a:blip r:embed="rId7"/>
            <a:stretch>
              <a:fillRect l="-9445" r="-3160"/>
            </a:stretch>
          </a:blipFill>
        </p:spPr>
      </p:sp>
      <p:sp>
        <p:nvSpPr>
          <p:cNvPr id="8" name="TextBox 8"/>
          <p:cNvSpPr txBox="1"/>
          <p:nvPr/>
        </p:nvSpPr>
        <p:spPr>
          <a:xfrm>
            <a:off x="4947401" y="7611501"/>
            <a:ext cx="8211126" cy="744279"/>
          </a:xfrm>
          <a:prstGeom prst="rect">
            <a:avLst/>
          </a:prstGeom>
        </p:spPr>
        <p:txBody>
          <a:bodyPr lIns="0" tIns="0" rIns="0" bIns="0" rtlCol="0" anchor="t">
            <a:spAutoFit/>
          </a:bodyPr>
          <a:lstStyle/>
          <a:p>
            <a:pPr algn="ctr">
              <a:lnSpc>
                <a:spcPts val="5600"/>
              </a:lnSpc>
            </a:pPr>
            <a:r>
              <a:rPr lang="en-US" sz="4000" b="1" dirty="0" err="1">
                <a:solidFill>
                  <a:srgbClr val="000000"/>
                </a:solidFill>
                <a:latin typeface="Helvetica World Bold"/>
                <a:ea typeface="Helvetica World Bold"/>
                <a:cs typeface="Helvetica World Bold"/>
                <a:sym typeface="Helvetica World Bold"/>
              </a:rPr>
              <a:t>Encadrer</a:t>
            </a:r>
            <a:r>
              <a:rPr lang="en-US" sz="4000" b="1" dirty="0">
                <a:solidFill>
                  <a:srgbClr val="000000"/>
                </a:solidFill>
                <a:latin typeface="Helvetica World Bold"/>
                <a:ea typeface="Helvetica World Bold"/>
                <a:cs typeface="Helvetica World Bold"/>
                <a:sym typeface="Helvetica World Bold"/>
              </a:rPr>
              <a:t> par : M. </a:t>
            </a:r>
            <a:r>
              <a:rPr lang="en-US" sz="4000" b="1" dirty="0" err="1">
                <a:solidFill>
                  <a:srgbClr val="000000"/>
                </a:solidFill>
                <a:latin typeface="Helvetica World Bold"/>
                <a:ea typeface="Helvetica World Bold"/>
                <a:cs typeface="Helvetica World Bold"/>
                <a:sym typeface="Helvetica World Bold"/>
              </a:rPr>
              <a:t>Semmaa</a:t>
            </a:r>
            <a:endParaRPr lang="en-US" sz="4000" b="1" dirty="0">
              <a:solidFill>
                <a:srgbClr val="000000"/>
              </a:solidFill>
              <a:latin typeface="Helvetica World Bold"/>
              <a:ea typeface="Helvetica World Bold"/>
              <a:cs typeface="Helvetica World Bold"/>
              <a:sym typeface="Helvetica World Bold"/>
            </a:endParaRPr>
          </a:p>
        </p:txBody>
      </p:sp>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5980302" y="-511423"/>
            <a:ext cx="2118132" cy="5896720"/>
            <a:chOff x="0" y="0"/>
            <a:chExt cx="586873" cy="1633810"/>
          </a:xfrm>
        </p:grpSpPr>
        <p:sp>
          <p:nvSpPr>
            <p:cNvPr id="3" name="Freeform 3"/>
            <p:cNvSpPr/>
            <p:nvPr/>
          </p:nvSpPr>
          <p:spPr>
            <a:xfrm>
              <a:off x="0" y="0"/>
              <a:ext cx="586873" cy="1633810"/>
            </a:xfrm>
            <a:custGeom>
              <a:avLst/>
              <a:gdLst/>
              <a:ahLst/>
              <a:cxnLst/>
              <a:rect l="l" t="t" r="r" b="b"/>
              <a:pathLst>
                <a:path w="586873" h="1633810">
                  <a:moveTo>
                    <a:pt x="195730" y="19070"/>
                  </a:moveTo>
                  <a:cubicBezTo>
                    <a:pt x="225720" y="7556"/>
                    <a:pt x="260023" y="0"/>
                    <a:pt x="293595" y="0"/>
                  </a:cubicBezTo>
                  <a:cubicBezTo>
                    <a:pt x="327167" y="0"/>
                    <a:pt x="359472" y="6476"/>
                    <a:pt x="389242" y="17990"/>
                  </a:cubicBezTo>
                  <a:cubicBezTo>
                    <a:pt x="389877" y="18350"/>
                    <a:pt x="390510" y="18350"/>
                    <a:pt x="391143" y="18710"/>
                  </a:cubicBezTo>
                  <a:cubicBezTo>
                    <a:pt x="502943" y="64765"/>
                    <a:pt x="585290" y="186379"/>
                    <a:pt x="586873" y="346739"/>
                  </a:cubicBezTo>
                  <a:lnTo>
                    <a:pt x="586873" y="1633810"/>
                  </a:lnTo>
                  <a:lnTo>
                    <a:pt x="0" y="1633810"/>
                  </a:lnTo>
                  <a:lnTo>
                    <a:pt x="0" y="347694"/>
                  </a:lnTo>
                  <a:cubicBezTo>
                    <a:pt x="1584" y="185660"/>
                    <a:pt x="82663" y="64045"/>
                    <a:pt x="195730" y="19070"/>
                  </a:cubicBezTo>
                  <a:close/>
                </a:path>
              </a:pathLst>
            </a:custGeom>
            <a:solidFill>
              <a:srgbClr val="FBC613"/>
            </a:solidFill>
          </p:spPr>
        </p:sp>
        <p:sp>
          <p:nvSpPr>
            <p:cNvPr id="4" name="TextBox 4"/>
            <p:cNvSpPr txBox="1"/>
            <p:nvPr/>
          </p:nvSpPr>
          <p:spPr>
            <a:xfrm>
              <a:off x="0" y="88900"/>
              <a:ext cx="586873" cy="154491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736075" y="1373161"/>
            <a:ext cx="2118132" cy="211813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51575" t="-24188" r="-55572" b="-152008"/>
              </a:stretch>
            </a:blipFill>
          </p:spPr>
        </p:sp>
      </p:grpSp>
      <p:grpSp>
        <p:nvGrpSpPr>
          <p:cNvPr id="7" name="Group 7"/>
          <p:cNvGrpSpPr/>
          <p:nvPr/>
        </p:nvGrpSpPr>
        <p:grpSpPr>
          <a:xfrm rot="5400000">
            <a:off x="5980302" y="2192550"/>
            <a:ext cx="2118132" cy="5896720"/>
            <a:chOff x="0" y="0"/>
            <a:chExt cx="586873" cy="1633810"/>
          </a:xfrm>
        </p:grpSpPr>
        <p:sp>
          <p:nvSpPr>
            <p:cNvPr id="8" name="Freeform 8"/>
            <p:cNvSpPr/>
            <p:nvPr/>
          </p:nvSpPr>
          <p:spPr>
            <a:xfrm>
              <a:off x="0" y="0"/>
              <a:ext cx="586873" cy="1633810"/>
            </a:xfrm>
            <a:custGeom>
              <a:avLst/>
              <a:gdLst/>
              <a:ahLst/>
              <a:cxnLst/>
              <a:rect l="l" t="t" r="r" b="b"/>
              <a:pathLst>
                <a:path w="586873" h="1633810">
                  <a:moveTo>
                    <a:pt x="195730" y="19070"/>
                  </a:moveTo>
                  <a:cubicBezTo>
                    <a:pt x="225720" y="7556"/>
                    <a:pt x="260023" y="0"/>
                    <a:pt x="293595" y="0"/>
                  </a:cubicBezTo>
                  <a:cubicBezTo>
                    <a:pt x="327167" y="0"/>
                    <a:pt x="359472" y="6476"/>
                    <a:pt x="389242" y="17990"/>
                  </a:cubicBezTo>
                  <a:cubicBezTo>
                    <a:pt x="389877" y="18350"/>
                    <a:pt x="390510" y="18350"/>
                    <a:pt x="391143" y="18710"/>
                  </a:cubicBezTo>
                  <a:cubicBezTo>
                    <a:pt x="502943" y="64765"/>
                    <a:pt x="585290" y="186379"/>
                    <a:pt x="586873" y="346739"/>
                  </a:cubicBezTo>
                  <a:lnTo>
                    <a:pt x="586873" y="1633810"/>
                  </a:lnTo>
                  <a:lnTo>
                    <a:pt x="0" y="1633810"/>
                  </a:lnTo>
                  <a:lnTo>
                    <a:pt x="0" y="347694"/>
                  </a:lnTo>
                  <a:cubicBezTo>
                    <a:pt x="1584" y="185660"/>
                    <a:pt x="82663" y="64045"/>
                    <a:pt x="195730" y="19070"/>
                  </a:cubicBezTo>
                  <a:close/>
                </a:path>
              </a:pathLst>
            </a:custGeom>
            <a:solidFill>
              <a:srgbClr val="FBC613"/>
            </a:solidFill>
          </p:spPr>
        </p:sp>
        <p:sp>
          <p:nvSpPr>
            <p:cNvPr id="9" name="TextBox 9"/>
            <p:cNvSpPr txBox="1"/>
            <p:nvPr/>
          </p:nvSpPr>
          <p:spPr>
            <a:xfrm>
              <a:off x="0" y="88900"/>
              <a:ext cx="586873" cy="154491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2963666" y="4081843"/>
            <a:ext cx="2118132" cy="2118132"/>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97778" t="-86508" r="-90407" b="-197738"/>
              </a:stretch>
            </a:blipFill>
          </p:spPr>
        </p:sp>
      </p:grpSp>
      <p:grpSp>
        <p:nvGrpSpPr>
          <p:cNvPr id="12" name="Group 12"/>
          <p:cNvGrpSpPr/>
          <p:nvPr/>
        </p:nvGrpSpPr>
        <p:grpSpPr>
          <a:xfrm rot="5400000">
            <a:off x="5980302" y="4899201"/>
            <a:ext cx="2118132" cy="5896720"/>
            <a:chOff x="0" y="0"/>
            <a:chExt cx="586873" cy="1633810"/>
          </a:xfrm>
        </p:grpSpPr>
        <p:sp>
          <p:nvSpPr>
            <p:cNvPr id="13" name="Freeform 13"/>
            <p:cNvSpPr/>
            <p:nvPr/>
          </p:nvSpPr>
          <p:spPr>
            <a:xfrm>
              <a:off x="0" y="0"/>
              <a:ext cx="586873" cy="1633810"/>
            </a:xfrm>
            <a:custGeom>
              <a:avLst/>
              <a:gdLst/>
              <a:ahLst/>
              <a:cxnLst/>
              <a:rect l="l" t="t" r="r" b="b"/>
              <a:pathLst>
                <a:path w="586873" h="1633810">
                  <a:moveTo>
                    <a:pt x="195730" y="19070"/>
                  </a:moveTo>
                  <a:cubicBezTo>
                    <a:pt x="225720" y="7556"/>
                    <a:pt x="260023" y="0"/>
                    <a:pt x="293595" y="0"/>
                  </a:cubicBezTo>
                  <a:cubicBezTo>
                    <a:pt x="327167" y="0"/>
                    <a:pt x="359472" y="6476"/>
                    <a:pt x="389242" y="17990"/>
                  </a:cubicBezTo>
                  <a:cubicBezTo>
                    <a:pt x="389877" y="18350"/>
                    <a:pt x="390510" y="18350"/>
                    <a:pt x="391143" y="18710"/>
                  </a:cubicBezTo>
                  <a:cubicBezTo>
                    <a:pt x="502943" y="64765"/>
                    <a:pt x="585290" y="186379"/>
                    <a:pt x="586873" y="346739"/>
                  </a:cubicBezTo>
                  <a:lnTo>
                    <a:pt x="586873" y="1633810"/>
                  </a:lnTo>
                  <a:lnTo>
                    <a:pt x="0" y="1633810"/>
                  </a:lnTo>
                  <a:lnTo>
                    <a:pt x="0" y="347694"/>
                  </a:lnTo>
                  <a:cubicBezTo>
                    <a:pt x="1584" y="185660"/>
                    <a:pt x="82663" y="64045"/>
                    <a:pt x="195730" y="19070"/>
                  </a:cubicBezTo>
                  <a:close/>
                </a:path>
              </a:pathLst>
            </a:custGeom>
            <a:solidFill>
              <a:srgbClr val="FBC613"/>
            </a:solidFill>
          </p:spPr>
        </p:sp>
        <p:sp>
          <p:nvSpPr>
            <p:cNvPr id="14" name="TextBox 14"/>
            <p:cNvSpPr txBox="1"/>
            <p:nvPr/>
          </p:nvSpPr>
          <p:spPr>
            <a:xfrm>
              <a:off x="0" y="88900"/>
              <a:ext cx="586873" cy="154491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3031943" y="6785816"/>
            <a:ext cx="2118132" cy="211813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5168" b="-44924"/>
              </a:stretch>
            </a:blipFill>
          </p:spPr>
        </p:sp>
      </p:grpSp>
      <p:sp>
        <p:nvSpPr>
          <p:cNvPr id="17" name="Freeform 17"/>
          <p:cNvSpPr/>
          <p:nvPr/>
        </p:nvSpPr>
        <p:spPr>
          <a:xfrm>
            <a:off x="0" y="-573973"/>
            <a:ext cx="2424501" cy="5716222"/>
          </a:xfrm>
          <a:custGeom>
            <a:avLst/>
            <a:gdLst/>
            <a:ahLst/>
            <a:cxnLst/>
            <a:rect l="l" t="t" r="r" b="b"/>
            <a:pathLst>
              <a:path w="2424501" h="5716222">
                <a:moveTo>
                  <a:pt x="0" y="0"/>
                </a:moveTo>
                <a:lnTo>
                  <a:pt x="2424501" y="0"/>
                </a:lnTo>
                <a:lnTo>
                  <a:pt x="2424501" y="5716222"/>
                </a:lnTo>
                <a:lnTo>
                  <a:pt x="0" y="5716222"/>
                </a:lnTo>
                <a:lnTo>
                  <a:pt x="0" y="0"/>
                </a:lnTo>
                <a:close/>
              </a:path>
            </a:pathLst>
          </a:custGeom>
          <a:blipFill>
            <a:blip r:embed="rId5">
              <a:extLst>
                <a:ext uri="{96DAC541-7B7A-43D3-8B79-37D633B846F1}">
                  <asvg:svgBlip xmlns:asvg="http://schemas.microsoft.com/office/drawing/2016/SVG/main" r:embed="rId6"/>
                </a:ext>
              </a:extLst>
            </a:blip>
            <a:stretch>
              <a:fillRect t="-30322" r="-207260"/>
            </a:stretch>
          </a:blipFill>
        </p:spPr>
      </p:sp>
      <p:sp>
        <p:nvSpPr>
          <p:cNvPr id="18" name="Freeform 18"/>
          <p:cNvSpPr/>
          <p:nvPr/>
        </p:nvSpPr>
        <p:spPr>
          <a:xfrm flipH="1" flipV="1">
            <a:off x="16047050" y="4704106"/>
            <a:ext cx="2424501" cy="5716222"/>
          </a:xfrm>
          <a:custGeom>
            <a:avLst/>
            <a:gdLst/>
            <a:ahLst/>
            <a:cxnLst/>
            <a:rect l="l" t="t" r="r" b="b"/>
            <a:pathLst>
              <a:path w="2424501" h="5716222">
                <a:moveTo>
                  <a:pt x="2424500" y="5716222"/>
                </a:moveTo>
                <a:lnTo>
                  <a:pt x="0" y="5716222"/>
                </a:lnTo>
                <a:lnTo>
                  <a:pt x="0" y="0"/>
                </a:lnTo>
                <a:lnTo>
                  <a:pt x="2424500" y="0"/>
                </a:lnTo>
                <a:lnTo>
                  <a:pt x="2424500" y="5716222"/>
                </a:lnTo>
                <a:close/>
              </a:path>
            </a:pathLst>
          </a:custGeom>
          <a:blipFill>
            <a:blip r:embed="rId5">
              <a:extLst>
                <a:ext uri="{96DAC541-7B7A-43D3-8B79-37D633B846F1}">
                  <asvg:svgBlip xmlns:asvg="http://schemas.microsoft.com/office/drawing/2016/SVG/main" r:embed="rId6"/>
                </a:ext>
              </a:extLst>
            </a:blip>
            <a:stretch>
              <a:fillRect t="-30322" r="-207260"/>
            </a:stretch>
          </a:blipFill>
        </p:spPr>
      </p:sp>
      <p:sp>
        <p:nvSpPr>
          <p:cNvPr id="19" name="Freeform 19"/>
          <p:cNvSpPr/>
          <p:nvPr/>
        </p:nvSpPr>
        <p:spPr>
          <a:xfrm>
            <a:off x="628103" y="5867385"/>
            <a:ext cx="400597" cy="3389664"/>
          </a:xfrm>
          <a:custGeom>
            <a:avLst/>
            <a:gdLst/>
            <a:ahLst/>
            <a:cxnLst/>
            <a:rect l="l" t="t" r="r" b="b"/>
            <a:pathLst>
              <a:path w="400597" h="3389664">
                <a:moveTo>
                  <a:pt x="0" y="0"/>
                </a:moveTo>
                <a:lnTo>
                  <a:pt x="400597" y="0"/>
                </a:lnTo>
                <a:lnTo>
                  <a:pt x="400597" y="3389664"/>
                </a:lnTo>
                <a:lnTo>
                  <a:pt x="0" y="33896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20"/>
          <p:cNvSpPr/>
          <p:nvPr/>
        </p:nvSpPr>
        <p:spPr>
          <a:xfrm flipV="1">
            <a:off x="17259300" y="1028700"/>
            <a:ext cx="400597" cy="3389664"/>
          </a:xfrm>
          <a:custGeom>
            <a:avLst/>
            <a:gdLst/>
            <a:ahLst/>
            <a:cxnLst/>
            <a:rect l="l" t="t" r="r" b="b"/>
            <a:pathLst>
              <a:path w="400597" h="3389664">
                <a:moveTo>
                  <a:pt x="0" y="3389664"/>
                </a:moveTo>
                <a:lnTo>
                  <a:pt x="400597" y="3389664"/>
                </a:lnTo>
                <a:lnTo>
                  <a:pt x="400597" y="0"/>
                </a:lnTo>
                <a:lnTo>
                  <a:pt x="0" y="0"/>
                </a:lnTo>
                <a:lnTo>
                  <a:pt x="0" y="3389664"/>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10597328" y="3095525"/>
            <a:ext cx="7062568" cy="3825755"/>
          </a:xfrm>
          <a:prstGeom prst="rect">
            <a:avLst/>
          </a:prstGeom>
        </p:spPr>
        <p:txBody>
          <a:bodyPr lIns="0" tIns="0" rIns="0" bIns="0" rtlCol="0" anchor="t">
            <a:spAutoFit/>
          </a:bodyPr>
          <a:lstStyle/>
          <a:p>
            <a:pPr algn="l">
              <a:lnSpc>
                <a:spcPts val="14499"/>
              </a:lnSpc>
            </a:pPr>
            <a:r>
              <a:rPr lang="en-US" sz="14499" spc="434">
                <a:solidFill>
                  <a:srgbClr val="11680C"/>
                </a:solidFill>
                <a:latin typeface="Times New Roman"/>
                <a:ea typeface="Times New Roman"/>
                <a:cs typeface="Times New Roman"/>
                <a:sym typeface="Times New Roman"/>
              </a:rPr>
              <a:t>NOTRE ÉQUIPE</a:t>
            </a:r>
          </a:p>
        </p:txBody>
      </p:sp>
      <p:sp>
        <p:nvSpPr>
          <p:cNvPr id="22" name="TextBox 22"/>
          <p:cNvSpPr txBox="1"/>
          <p:nvPr/>
        </p:nvSpPr>
        <p:spPr>
          <a:xfrm>
            <a:off x="5585273" y="1588079"/>
            <a:ext cx="4220383" cy="1531739"/>
          </a:xfrm>
          <a:prstGeom prst="rect">
            <a:avLst/>
          </a:prstGeom>
        </p:spPr>
        <p:txBody>
          <a:bodyPr lIns="0" tIns="0" rIns="0" bIns="0" rtlCol="0" anchor="t">
            <a:spAutoFit/>
          </a:bodyPr>
          <a:lstStyle/>
          <a:p>
            <a:pPr algn="l">
              <a:lnSpc>
                <a:spcPts val="6000"/>
              </a:lnSpc>
            </a:pPr>
            <a:r>
              <a:rPr lang="en-US" sz="4800">
                <a:solidFill>
                  <a:srgbClr val="000000"/>
                </a:solidFill>
                <a:latin typeface="Helvetica World"/>
                <a:ea typeface="Helvetica World"/>
                <a:cs typeface="Helvetica World"/>
                <a:sym typeface="Helvetica World"/>
              </a:rPr>
              <a:t>ZAHI</a:t>
            </a:r>
          </a:p>
          <a:p>
            <a:pPr algn="l">
              <a:lnSpc>
                <a:spcPts val="6000"/>
              </a:lnSpc>
            </a:pPr>
            <a:r>
              <a:rPr lang="en-US" sz="4800">
                <a:solidFill>
                  <a:srgbClr val="000000"/>
                </a:solidFill>
                <a:latin typeface="Helvetica World"/>
                <a:ea typeface="Helvetica World"/>
                <a:cs typeface="Helvetica World"/>
                <a:sym typeface="Helvetica World"/>
              </a:rPr>
              <a:t>EL HOUSSINE</a:t>
            </a:r>
          </a:p>
        </p:txBody>
      </p:sp>
      <p:sp>
        <p:nvSpPr>
          <p:cNvPr id="23" name="TextBox 23"/>
          <p:cNvSpPr txBox="1"/>
          <p:nvPr/>
        </p:nvSpPr>
        <p:spPr>
          <a:xfrm>
            <a:off x="5585273" y="4335646"/>
            <a:ext cx="4220383" cy="1531739"/>
          </a:xfrm>
          <a:prstGeom prst="rect">
            <a:avLst/>
          </a:prstGeom>
        </p:spPr>
        <p:txBody>
          <a:bodyPr lIns="0" tIns="0" rIns="0" bIns="0" rtlCol="0" anchor="t">
            <a:spAutoFit/>
          </a:bodyPr>
          <a:lstStyle/>
          <a:p>
            <a:pPr algn="l">
              <a:lnSpc>
                <a:spcPts val="6000"/>
              </a:lnSpc>
            </a:pPr>
            <a:r>
              <a:rPr lang="en-US" sz="4800">
                <a:solidFill>
                  <a:srgbClr val="000000"/>
                </a:solidFill>
                <a:latin typeface="Helvetica World"/>
                <a:ea typeface="Helvetica World"/>
                <a:cs typeface="Helvetica World"/>
                <a:sym typeface="Helvetica World"/>
              </a:rPr>
              <a:t>LOUHANY</a:t>
            </a:r>
          </a:p>
          <a:p>
            <a:pPr algn="l">
              <a:lnSpc>
                <a:spcPts val="6000"/>
              </a:lnSpc>
            </a:pPr>
            <a:r>
              <a:rPr lang="en-US" sz="4800">
                <a:solidFill>
                  <a:srgbClr val="000000"/>
                </a:solidFill>
                <a:latin typeface="Helvetica World"/>
                <a:ea typeface="Helvetica World"/>
                <a:cs typeface="Helvetica World"/>
                <a:sym typeface="Helvetica World"/>
              </a:rPr>
              <a:t>AMINE</a:t>
            </a:r>
          </a:p>
        </p:txBody>
      </p:sp>
      <p:sp>
        <p:nvSpPr>
          <p:cNvPr id="24" name="TextBox 24"/>
          <p:cNvSpPr txBox="1"/>
          <p:nvPr/>
        </p:nvSpPr>
        <p:spPr>
          <a:xfrm>
            <a:off x="5664930" y="7059962"/>
            <a:ext cx="4220383" cy="1531739"/>
          </a:xfrm>
          <a:prstGeom prst="rect">
            <a:avLst/>
          </a:prstGeom>
        </p:spPr>
        <p:txBody>
          <a:bodyPr lIns="0" tIns="0" rIns="0" bIns="0" rtlCol="0" anchor="t">
            <a:spAutoFit/>
          </a:bodyPr>
          <a:lstStyle/>
          <a:p>
            <a:pPr algn="l">
              <a:lnSpc>
                <a:spcPts val="6000"/>
              </a:lnSpc>
            </a:pPr>
            <a:r>
              <a:rPr lang="en-US" sz="4800" dirty="0">
                <a:solidFill>
                  <a:srgbClr val="000000"/>
                </a:solidFill>
                <a:latin typeface="Helvetica World"/>
                <a:ea typeface="Helvetica World"/>
                <a:cs typeface="Helvetica World"/>
                <a:sym typeface="Helvetica World"/>
              </a:rPr>
              <a:t>KHALIL</a:t>
            </a:r>
          </a:p>
          <a:p>
            <a:pPr algn="l">
              <a:lnSpc>
                <a:spcPts val="6000"/>
              </a:lnSpc>
            </a:pPr>
            <a:r>
              <a:rPr lang="en-US" sz="4800" dirty="0">
                <a:solidFill>
                  <a:srgbClr val="000000"/>
                </a:solidFill>
                <a:latin typeface="Helvetica World"/>
                <a:ea typeface="Helvetica World"/>
                <a:cs typeface="Helvetica World"/>
                <a:sym typeface="Helvetica World"/>
              </a:rPr>
              <a:t>SOUFIANE</a:t>
            </a: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3735463" y="4865462"/>
            <a:ext cx="5199295" cy="5199295"/>
          </a:xfrm>
          <a:custGeom>
            <a:avLst/>
            <a:gdLst/>
            <a:ahLst/>
            <a:cxnLst/>
            <a:rect l="l" t="t" r="r" b="b"/>
            <a:pathLst>
              <a:path w="5199295" h="5199295">
                <a:moveTo>
                  <a:pt x="5199296" y="5199296"/>
                </a:moveTo>
                <a:lnTo>
                  <a:pt x="0" y="5199296"/>
                </a:lnTo>
                <a:lnTo>
                  <a:pt x="0" y="0"/>
                </a:lnTo>
                <a:lnTo>
                  <a:pt x="5199296" y="0"/>
                </a:lnTo>
                <a:lnTo>
                  <a:pt x="5199296" y="519929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2714322" y="-676656"/>
            <a:ext cx="7035085" cy="10731929"/>
          </a:xfrm>
          <a:custGeom>
            <a:avLst/>
            <a:gdLst/>
            <a:ahLst/>
            <a:cxnLst/>
            <a:rect l="l" t="t" r="r" b="b"/>
            <a:pathLst>
              <a:path w="7035085" h="10731929">
                <a:moveTo>
                  <a:pt x="7035085" y="0"/>
                </a:moveTo>
                <a:lnTo>
                  <a:pt x="0" y="0"/>
                </a:lnTo>
                <a:lnTo>
                  <a:pt x="0" y="10731929"/>
                </a:lnTo>
                <a:lnTo>
                  <a:pt x="7035085" y="10731929"/>
                </a:lnTo>
                <a:lnTo>
                  <a:pt x="7035085" y="0"/>
                </a:lnTo>
                <a:close/>
              </a:path>
            </a:pathLst>
          </a:custGeom>
          <a:blipFill>
            <a:blip r:embed="rId4">
              <a:extLst>
                <a:ext uri="{96DAC541-7B7A-43D3-8B79-37D633B846F1}">
                  <asvg:svgBlip xmlns:asvg="http://schemas.microsoft.com/office/drawing/2016/SVG/main" r:embed="rId5"/>
                </a:ext>
              </a:extLst>
            </a:blip>
            <a:stretch>
              <a:fillRect r="-52548"/>
            </a:stretch>
          </a:blipFill>
        </p:spPr>
      </p:sp>
      <p:grpSp>
        <p:nvGrpSpPr>
          <p:cNvPr id="4" name="Group 4"/>
          <p:cNvGrpSpPr/>
          <p:nvPr/>
        </p:nvGrpSpPr>
        <p:grpSpPr>
          <a:xfrm>
            <a:off x="1852817" y="1252040"/>
            <a:ext cx="1398639" cy="139863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852817" y="2917794"/>
            <a:ext cx="1398639" cy="139863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921094" y="4583547"/>
            <a:ext cx="1398639" cy="139863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2036290" y="1547500"/>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1</a:t>
            </a:r>
          </a:p>
        </p:txBody>
      </p:sp>
      <p:sp>
        <p:nvSpPr>
          <p:cNvPr id="14" name="TextBox 14"/>
          <p:cNvSpPr txBox="1"/>
          <p:nvPr/>
        </p:nvSpPr>
        <p:spPr>
          <a:xfrm>
            <a:off x="2036290" y="3213253"/>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2</a:t>
            </a:r>
          </a:p>
        </p:txBody>
      </p:sp>
      <p:sp>
        <p:nvSpPr>
          <p:cNvPr id="15" name="TextBox 15"/>
          <p:cNvSpPr txBox="1"/>
          <p:nvPr/>
        </p:nvSpPr>
        <p:spPr>
          <a:xfrm>
            <a:off x="2104567" y="4879007"/>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3</a:t>
            </a:r>
          </a:p>
        </p:txBody>
      </p:sp>
      <p:grpSp>
        <p:nvGrpSpPr>
          <p:cNvPr id="16" name="Group 16"/>
          <p:cNvGrpSpPr/>
          <p:nvPr/>
        </p:nvGrpSpPr>
        <p:grpSpPr>
          <a:xfrm>
            <a:off x="1921094" y="6248887"/>
            <a:ext cx="1398639" cy="139863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921094" y="7914226"/>
            <a:ext cx="1398639" cy="139863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2070429" y="6544945"/>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4</a:t>
            </a:r>
          </a:p>
        </p:txBody>
      </p:sp>
      <p:sp>
        <p:nvSpPr>
          <p:cNvPr id="23" name="TextBox 23"/>
          <p:cNvSpPr txBox="1"/>
          <p:nvPr/>
        </p:nvSpPr>
        <p:spPr>
          <a:xfrm>
            <a:off x="2104567" y="8209685"/>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5</a:t>
            </a:r>
          </a:p>
        </p:txBody>
      </p:sp>
      <p:sp>
        <p:nvSpPr>
          <p:cNvPr id="24" name="TextBox 24"/>
          <p:cNvSpPr txBox="1"/>
          <p:nvPr/>
        </p:nvSpPr>
        <p:spPr>
          <a:xfrm>
            <a:off x="3684747" y="1438597"/>
            <a:ext cx="6725126" cy="892175"/>
          </a:xfrm>
          <a:prstGeom prst="rect">
            <a:avLst/>
          </a:prstGeom>
        </p:spPr>
        <p:txBody>
          <a:bodyPr lIns="0" tIns="0" rIns="0" bIns="0" rtlCol="0" anchor="t">
            <a:spAutoFit/>
          </a:bodyPr>
          <a:lstStyle/>
          <a:p>
            <a:pPr algn="ctr">
              <a:lnSpc>
                <a:spcPts val="7000"/>
              </a:lnSpc>
              <a:spcBef>
                <a:spcPct val="0"/>
              </a:spcBef>
            </a:pPr>
            <a:r>
              <a:rPr lang="en-US" sz="5000" b="1">
                <a:solidFill>
                  <a:srgbClr val="11680C"/>
                </a:solidFill>
                <a:latin typeface="Times New Roman Bold"/>
                <a:ea typeface="Times New Roman Bold"/>
                <a:cs typeface="Times New Roman Bold"/>
                <a:sym typeface="Times New Roman Bold"/>
              </a:rPr>
              <a:t>Introduction et Objectifs</a:t>
            </a:r>
          </a:p>
        </p:txBody>
      </p:sp>
      <p:sp>
        <p:nvSpPr>
          <p:cNvPr id="25" name="Freeform 25"/>
          <p:cNvSpPr/>
          <p:nvPr/>
        </p:nvSpPr>
        <p:spPr>
          <a:xfrm>
            <a:off x="-530012" y="-470164"/>
            <a:ext cx="5248024" cy="5248024"/>
          </a:xfrm>
          <a:custGeom>
            <a:avLst/>
            <a:gdLst/>
            <a:ahLst/>
            <a:cxnLst/>
            <a:rect l="l" t="t" r="r" b="b"/>
            <a:pathLst>
              <a:path w="5248024" h="5248024">
                <a:moveTo>
                  <a:pt x="0" y="0"/>
                </a:moveTo>
                <a:lnTo>
                  <a:pt x="5248023" y="0"/>
                </a:lnTo>
                <a:lnTo>
                  <a:pt x="5248023" y="5248024"/>
                </a:lnTo>
                <a:lnTo>
                  <a:pt x="0" y="524802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6" name="Freeform 26"/>
          <p:cNvSpPr/>
          <p:nvPr/>
        </p:nvSpPr>
        <p:spPr>
          <a:xfrm>
            <a:off x="567997" y="5714026"/>
            <a:ext cx="460703" cy="3898259"/>
          </a:xfrm>
          <a:custGeom>
            <a:avLst/>
            <a:gdLst/>
            <a:ahLst/>
            <a:cxnLst/>
            <a:rect l="l" t="t" r="r" b="b"/>
            <a:pathLst>
              <a:path w="460703" h="3898259">
                <a:moveTo>
                  <a:pt x="0" y="0"/>
                </a:moveTo>
                <a:lnTo>
                  <a:pt x="460703" y="0"/>
                </a:lnTo>
                <a:lnTo>
                  <a:pt x="460703" y="3898259"/>
                </a:lnTo>
                <a:lnTo>
                  <a:pt x="0" y="389825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7" name="Freeform 27"/>
          <p:cNvSpPr/>
          <p:nvPr/>
        </p:nvSpPr>
        <p:spPr>
          <a:xfrm rot="16200000" flipV="1">
            <a:off x="3075601" y="7878747"/>
            <a:ext cx="460079" cy="3892974"/>
          </a:xfrm>
          <a:custGeom>
            <a:avLst/>
            <a:gdLst/>
            <a:ahLst/>
            <a:cxnLst/>
            <a:rect l="l" t="t" r="r" b="b"/>
            <a:pathLst>
              <a:path w="460079" h="3892974">
                <a:moveTo>
                  <a:pt x="460079" y="0"/>
                </a:moveTo>
                <a:lnTo>
                  <a:pt x="0" y="0"/>
                </a:lnTo>
                <a:lnTo>
                  <a:pt x="0" y="3892974"/>
                </a:lnTo>
                <a:lnTo>
                  <a:pt x="460079" y="3892974"/>
                </a:lnTo>
                <a:lnTo>
                  <a:pt x="460079"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28" name="Group 28"/>
          <p:cNvGrpSpPr/>
          <p:nvPr/>
        </p:nvGrpSpPr>
        <p:grpSpPr>
          <a:xfrm>
            <a:off x="3420027" y="1252040"/>
            <a:ext cx="10715017" cy="1393953"/>
            <a:chOff x="0" y="0"/>
            <a:chExt cx="2453512" cy="319186"/>
          </a:xfrm>
        </p:grpSpPr>
        <p:sp>
          <p:nvSpPr>
            <p:cNvPr id="29" name="Freeform 29"/>
            <p:cNvSpPr/>
            <p:nvPr/>
          </p:nvSpPr>
          <p:spPr>
            <a:xfrm>
              <a:off x="0" y="0"/>
              <a:ext cx="2453512" cy="319186"/>
            </a:xfrm>
            <a:custGeom>
              <a:avLst/>
              <a:gdLst/>
              <a:ahLst/>
              <a:cxnLst/>
              <a:rect l="l" t="t" r="r" b="b"/>
              <a:pathLst>
                <a:path w="2453512" h="319186">
                  <a:moveTo>
                    <a:pt x="46964" y="0"/>
                  </a:moveTo>
                  <a:lnTo>
                    <a:pt x="2406548" y="0"/>
                  </a:lnTo>
                  <a:cubicBezTo>
                    <a:pt x="2419003" y="0"/>
                    <a:pt x="2430949" y="4948"/>
                    <a:pt x="2439757" y="13756"/>
                  </a:cubicBezTo>
                  <a:cubicBezTo>
                    <a:pt x="2448564" y="22563"/>
                    <a:pt x="2453512" y="34509"/>
                    <a:pt x="2453512" y="46964"/>
                  </a:cubicBezTo>
                  <a:lnTo>
                    <a:pt x="2453512" y="272221"/>
                  </a:lnTo>
                  <a:cubicBezTo>
                    <a:pt x="2453512" y="284677"/>
                    <a:pt x="2448564" y="296623"/>
                    <a:pt x="2439757" y="305430"/>
                  </a:cubicBezTo>
                  <a:cubicBezTo>
                    <a:pt x="2430949" y="314238"/>
                    <a:pt x="2419003" y="319186"/>
                    <a:pt x="2406548" y="319186"/>
                  </a:cubicBezTo>
                  <a:lnTo>
                    <a:pt x="46964" y="319186"/>
                  </a:lnTo>
                  <a:cubicBezTo>
                    <a:pt x="34509" y="319186"/>
                    <a:pt x="22563" y="314238"/>
                    <a:pt x="13756" y="305430"/>
                  </a:cubicBezTo>
                  <a:cubicBezTo>
                    <a:pt x="4948" y="296623"/>
                    <a:pt x="0" y="284677"/>
                    <a:pt x="0" y="272221"/>
                  </a:cubicBezTo>
                  <a:lnTo>
                    <a:pt x="0" y="46964"/>
                  </a:lnTo>
                  <a:cubicBezTo>
                    <a:pt x="0" y="34509"/>
                    <a:pt x="4948" y="22563"/>
                    <a:pt x="13756" y="13756"/>
                  </a:cubicBezTo>
                  <a:cubicBezTo>
                    <a:pt x="22563" y="4948"/>
                    <a:pt x="34509" y="0"/>
                    <a:pt x="46964" y="0"/>
                  </a:cubicBezTo>
                  <a:close/>
                </a:path>
              </a:pathLst>
            </a:custGeom>
            <a:solidFill>
              <a:srgbClr val="11680C"/>
            </a:solidFill>
          </p:spPr>
        </p:sp>
        <p:sp>
          <p:nvSpPr>
            <p:cNvPr id="30" name="TextBox 30"/>
            <p:cNvSpPr txBox="1"/>
            <p:nvPr/>
          </p:nvSpPr>
          <p:spPr>
            <a:xfrm>
              <a:off x="0" y="-47625"/>
              <a:ext cx="2453512" cy="366811"/>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5540157" y="1439755"/>
            <a:ext cx="6725126" cy="805542"/>
          </a:xfrm>
          <a:prstGeom prst="rect">
            <a:avLst/>
          </a:prstGeom>
        </p:spPr>
        <p:txBody>
          <a:bodyPr lIns="0" tIns="0" rIns="0" bIns="0" rtlCol="0" anchor="t">
            <a:spAutoFit/>
          </a:bodyPr>
          <a:lstStyle/>
          <a:p>
            <a:pPr algn="ctr">
              <a:lnSpc>
                <a:spcPts val="7000"/>
              </a:lnSpc>
              <a:spcBef>
                <a:spcPct val="0"/>
              </a:spcBef>
            </a:pPr>
            <a:r>
              <a:rPr lang="en-US" sz="4400" b="1" dirty="0">
                <a:solidFill>
                  <a:srgbClr val="FFFFFF"/>
                </a:solidFill>
                <a:latin typeface="Times New Roman Bold"/>
                <a:ea typeface="Times New Roman Bold"/>
                <a:cs typeface="Times New Roman Bold"/>
                <a:sym typeface="Times New Roman Bold"/>
              </a:rPr>
              <a:t>Introduction</a:t>
            </a:r>
          </a:p>
        </p:txBody>
      </p:sp>
      <p:grpSp>
        <p:nvGrpSpPr>
          <p:cNvPr id="32" name="Group 32"/>
          <p:cNvGrpSpPr/>
          <p:nvPr/>
        </p:nvGrpSpPr>
        <p:grpSpPr>
          <a:xfrm>
            <a:off x="3541449" y="2922480"/>
            <a:ext cx="10715017" cy="1393953"/>
            <a:chOff x="0" y="0"/>
            <a:chExt cx="2453512" cy="319186"/>
          </a:xfrm>
        </p:grpSpPr>
        <p:sp>
          <p:nvSpPr>
            <p:cNvPr id="33" name="Freeform 33"/>
            <p:cNvSpPr/>
            <p:nvPr/>
          </p:nvSpPr>
          <p:spPr>
            <a:xfrm>
              <a:off x="0" y="0"/>
              <a:ext cx="2453512" cy="319186"/>
            </a:xfrm>
            <a:custGeom>
              <a:avLst/>
              <a:gdLst/>
              <a:ahLst/>
              <a:cxnLst/>
              <a:rect l="l" t="t" r="r" b="b"/>
              <a:pathLst>
                <a:path w="2453512" h="319186">
                  <a:moveTo>
                    <a:pt x="46964" y="0"/>
                  </a:moveTo>
                  <a:lnTo>
                    <a:pt x="2406548" y="0"/>
                  </a:lnTo>
                  <a:cubicBezTo>
                    <a:pt x="2419003" y="0"/>
                    <a:pt x="2430949" y="4948"/>
                    <a:pt x="2439757" y="13756"/>
                  </a:cubicBezTo>
                  <a:cubicBezTo>
                    <a:pt x="2448564" y="22563"/>
                    <a:pt x="2453512" y="34509"/>
                    <a:pt x="2453512" y="46964"/>
                  </a:cubicBezTo>
                  <a:lnTo>
                    <a:pt x="2453512" y="272221"/>
                  </a:lnTo>
                  <a:cubicBezTo>
                    <a:pt x="2453512" y="284677"/>
                    <a:pt x="2448564" y="296623"/>
                    <a:pt x="2439757" y="305430"/>
                  </a:cubicBezTo>
                  <a:cubicBezTo>
                    <a:pt x="2430949" y="314238"/>
                    <a:pt x="2419003" y="319186"/>
                    <a:pt x="2406548" y="319186"/>
                  </a:cubicBezTo>
                  <a:lnTo>
                    <a:pt x="46964" y="319186"/>
                  </a:lnTo>
                  <a:cubicBezTo>
                    <a:pt x="34509" y="319186"/>
                    <a:pt x="22563" y="314238"/>
                    <a:pt x="13756" y="305430"/>
                  </a:cubicBezTo>
                  <a:cubicBezTo>
                    <a:pt x="4948" y="296623"/>
                    <a:pt x="0" y="284677"/>
                    <a:pt x="0" y="272221"/>
                  </a:cubicBezTo>
                  <a:lnTo>
                    <a:pt x="0" y="46964"/>
                  </a:lnTo>
                  <a:cubicBezTo>
                    <a:pt x="0" y="34509"/>
                    <a:pt x="4948" y="22563"/>
                    <a:pt x="13756" y="13756"/>
                  </a:cubicBezTo>
                  <a:cubicBezTo>
                    <a:pt x="22563" y="4948"/>
                    <a:pt x="34509" y="0"/>
                    <a:pt x="46964" y="0"/>
                  </a:cubicBezTo>
                  <a:close/>
                </a:path>
              </a:pathLst>
            </a:custGeom>
            <a:solidFill>
              <a:srgbClr val="11680C"/>
            </a:solidFill>
          </p:spPr>
        </p:sp>
        <p:sp>
          <p:nvSpPr>
            <p:cNvPr id="34" name="TextBox 34"/>
            <p:cNvSpPr txBox="1"/>
            <p:nvPr/>
          </p:nvSpPr>
          <p:spPr>
            <a:xfrm>
              <a:off x="0" y="-47625"/>
              <a:ext cx="2453512" cy="366811"/>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3742425" y="3046852"/>
            <a:ext cx="10001964" cy="805542"/>
          </a:xfrm>
          <a:prstGeom prst="rect">
            <a:avLst/>
          </a:prstGeom>
        </p:spPr>
        <p:txBody>
          <a:bodyPr lIns="0" tIns="0" rIns="0" bIns="0" rtlCol="0" anchor="t">
            <a:spAutoFit/>
          </a:bodyPr>
          <a:lstStyle/>
          <a:p>
            <a:pPr algn="ctr">
              <a:lnSpc>
                <a:spcPts val="7000"/>
              </a:lnSpc>
              <a:spcBef>
                <a:spcPct val="0"/>
              </a:spcBef>
            </a:pPr>
            <a:r>
              <a:rPr lang="en-US" sz="4400" b="1" dirty="0" err="1">
                <a:solidFill>
                  <a:srgbClr val="FFFFFF"/>
                </a:solidFill>
                <a:latin typeface="Times New Roman Bold"/>
                <a:ea typeface="Times New Roman Bold"/>
                <a:cs typeface="Times New Roman Bold"/>
                <a:sym typeface="Times New Roman Bold"/>
              </a:rPr>
              <a:t>Cœur</a:t>
            </a:r>
            <a:r>
              <a:rPr lang="en-US" sz="4400" b="1" dirty="0">
                <a:solidFill>
                  <a:srgbClr val="FFFFFF"/>
                </a:solidFill>
                <a:latin typeface="Times New Roman Bold"/>
                <a:ea typeface="Times New Roman Bold"/>
                <a:cs typeface="Times New Roman Bold"/>
                <a:sym typeface="Times New Roman Bold"/>
              </a:rPr>
              <a:t> Technique : LBP, PCA et SVM</a:t>
            </a:r>
          </a:p>
        </p:txBody>
      </p:sp>
      <p:grpSp>
        <p:nvGrpSpPr>
          <p:cNvPr id="36" name="Group 36"/>
          <p:cNvGrpSpPr/>
          <p:nvPr/>
        </p:nvGrpSpPr>
        <p:grpSpPr>
          <a:xfrm>
            <a:off x="3684747" y="4583547"/>
            <a:ext cx="10715017" cy="1393953"/>
            <a:chOff x="0" y="0"/>
            <a:chExt cx="2453512" cy="319186"/>
          </a:xfrm>
        </p:grpSpPr>
        <p:sp>
          <p:nvSpPr>
            <p:cNvPr id="37" name="Freeform 37"/>
            <p:cNvSpPr/>
            <p:nvPr/>
          </p:nvSpPr>
          <p:spPr>
            <a:xfrm>
              <a:off x="0" y="0"/>
              <a:ext cx="2453512" cy="319186"/>
            </a:xfrm>
            <a:custGeom>
              <a:avLst/>
              <a:gdLst/>
              <a:ahLst/>
              <a:cxnLst/>
              <a:rect l="l" t="t" r="r" b="b"/>
              <a:pathLst>
                <a:path w="2453512" h="319186">
                  <a:moveTo>
                    <a:pt x="46964" y="0"/>
                  </a:moveTo>
                  <a:lnTo>
                    <a:pt x="2406548" y="0"/>
                  </a:lnTo>
                  <a:cubicBezTo>
                    <a:pt x="2419003" y="0"/>
                    <a:pt x="2430949" y="4948"/>
                    <a:pt x="2439757" y="13756"/>
                  </a:cubicBezTo>
                  <a:cubicBezTo>
                    <a:pt x="2448564" y="22563"/>
                    <a:pt x="2453512" y="34509"/>
                    <a:pt x="2453512" y="46964"/>
                  </a:cubicBezTo>
                  <a:lnTo>
                    <a:pt x="2453512" y="272221"/>
                  </a:lnTo>
                  <a:cubicBezTo>
                    <a:pt x="2453512" y="284677"/>
                    <a:pt x="2448564" y="296623"/>
                    <a:pt x="2439757" y="305430"/>
                  </a:cubicBezTo>
                  <a:cubicBezTo>
                    <a:pt x="2430949" y="314238"/>
                    <a:pt x="2419003" y="319186"/>
                    <a:pt x="2406548" y="319186"/>
                  </a:cubicBezTo>
                  <a:lnTo>
                    <a:pt x="46964" y="319186"/>
                  </a:lnTo>
                  <a:cubicBezTo>
                    <a:pt x="34509" y="319186"/>
                    <a:pt x="22563" y="314238"/>
                    <a:pt x="13756" y="305430"/>
                  </a:cubicBezTo>
                  <a:cubicBezTo>
                    <a:pt x="4948" y="296623"/>
                    <a:pt x="0" y="284677"/>
                    <a:pt x="0" y="272221"/>
                  </a:cubicBezTo>
                  <a:lnTo>
                    <a:pt x="0" y="46964"/>
                  </a:lnTo>
                  <a:cubicBezTo>
                    <a:pt x="0" y="34509"/>
                    <a:pt x="4948" y="22563"/>
                    <a:pt x="13756" y="13756"/>
                  </a:cubicBezTo>
                  <a:cubicBezTo>
                    <a:pt x="22563" y="4948"/>
                    <a:pt x="34509" y="0"/>
                    <a:pt x="46964" y="0"/>
                  </a:cubicBezTo>
                  <a:close/>
                </a:path>
              </a:pathLst>
            </a:custGeom>
            <a:solidFill>
              <a:srgbClr val="11680C"/>
            </a:solidFill>
          </p:spPr>
        </p:sp>
        <p:sp>
          <p:nvSpPr>
            <p:cNvPr id="38" name="TextBox 38"/>
            <p:cNvSpPr txBox="1"/>
            <p:nvPr/>
          </p:nvSpPr>
          <p:spPr>
            <a:xfrm>
              <a:off x="0" y="-47625"/>
              <a:ext cx="2453512" cy="366811"/>
            </a:xfrm>
            <a:prstGeom prst="rect">
              <a:avLst/>
            </a:prstGeom>
          </p:spPr>
          <p:txBody>
            <a:bodyPr lIns="50800" tIns="50800" rIns="50800" bIns="50800" rtlCol="0" anchor="ctr"/>
            <a:lstStyle/>
            <a:p>
              <a:pPr algn="ctr">
                <a:lnSpc>
                  <a:spcPts val="2659"/>
                </a:lnSpc>
              </a:pPr>
              <a:endParaRPr/>
            </a:p>
          </p:txBody>
        </p:sp>
      </p:grpSp>
      <p:sp>
        <p:nvSpPr>
          <p:cNvPr id="39" name="TextBox 39"/>
          <p:cNvSpPr txBox="1"/>
          <p:nvPr/>
        </p:nvSpPr>
        <p:spPr>
          <a:xfrm>
            <a:off x="5225922" y="4742269"/>
            <a:ext cx="6677441" cy="805542"/>
          </a:xfrm>
          <a:prstGeom prst="rect">
            <a:avLst/>
          </a:prstGeom>
        </p:spPr>
        <p:txBody>
          <a:bodyPr lIns="0" tIns="0" rIns="0" bIns="0" rtlCol="0" anchor="t">
            <a:spAutoFit/>
          </a:bodyPr>
          <a:lstStyle/>
          <a:p>
            <a:pPr algn="ctr">
              <a:lnSpc>
                <a:spcPts val="7000"/>
              </a:lnSpc>
              <a:spcBef>
                <a:spcPct val="0"/>
              </a:spcBef>
            </a:pPr>
            <a:r>
              <a:rPr lang="en-US" sz="4400" b="1" dirty="0">
                <a:solidFill>
                  <a:srgbClr val="FFFFFF"/>
                </a:solidFill>
                <a:latin typeface="Times New Roman Bold"/>
                <a:ea typeface="Times New Roman Bold"/>
                <a:cs typeface="Times New Roman Bold"/>
                <a:sym typeface="Times New Roman Bold"/>
              </a:rPr>
              <a:t>Architecture du Système</a:t>
            </a:r>
          </a:p>
        </p:txBody>
      </p:sp>
      <p:grpSp>
        <p:nvGrpSpPr>
          <p:cNvPr id="40" name="Group 40"/>
          <p:cNvGrpSpPr/>
          <p:nvPr/>
        </p:nvGrpSpPr>
        <p:grpSpPr>
          <a:xfrm>
            <a:off x="3420027" y="6406126"/>
            <a:ext cx="10715017" cy="1393953"/>
            <a:chOff x="0" y="0"/>
            <a:chExt cx="2453512" cy="319186"/>
          </a:xfrm>
        </p:grpSpPr>
        <p:sp>
          <p:nvSpPr>
            <p:cNvPr id="41" name="Freeform 41"/>
            <p:cNvSpPr/>
            <p:nvPr/>
          </p:nvSpPr>
          <p:spPr>
            <a:xfrm>
              <a:off x="0" y="0"/>
              <a:ext cx="2453512" cy="319186"/>
            </a:xfrm>
            <a:custGeom>
              <a:avLst/>
              <a:gdLst/>
              <a:ahLst/>
              <a:cxnLst/>
              <a:rect l="l" t="t" r="r" b="b"/>
              <a:pathLst>
                <a:path w="2453512" h="319186">
                  <a:moveTo>
                    <a:pt x="46964" y="0"/>
                  </a:moveTo>
                  <a:lnTo>
                    <a:pt x="2406548" y="0"/>
                  </a:lnTo>
                  <a:cubicBezTo>
                    <a:pt x="2419003" y="0"/>
                    <a:pt x="2430949" y="4948"/>
                    <a:pt x="2439757" y="13756"/>
                  </a:cubicBezTo>
                  <a:cubicBezTo>
                    <a:pt x="2448564" y="22563"/>
                    <a:pt x="2453512" y="34509"/>
                    <a:pt x="2453512" y="46964"/>
                  </a:cubicBezTo>
                  <a:lnTo>
                    <a:pt x="2453512" y="272221"/>
                  </a:lnTo>
                  <a:cubicBezTo>
                    <a:pt x="2453512" y="284677"/>
                    <a:pt x="2448564" y="296623"/>
                    <a:pt x="2439757" y="305430"/>
                  </a:cubicBezTo>
                  <a:cubicBezTo>
                    <a:pt x="2430949" y="314238"/>
                    <a:pt x="2419003" y="319186"/>
                    <a:pt x="2406548" y="319186"/>
                  </a:cubicBezTo>
                  <a:lnTo>
                    <a:pt x="46964" y="319186"/>
                  </a:lnTo>
                  <a:cubicBezTo>
                    <a:pt x="34509" y="319186"/>
                    <a:pt x="22563" y="314238"/>
                    <a:pt x="13756" y="305430"/>
                  </a:cubicBezTo>
                  <a:cubicBezTo>
                    <a:pt x="4948" y="296623"/>
                    <a:pt x="0" y="284677"/>
                    <a:pt x="0" y="272221"/>
                  </a:cubicBezTo>
                  <a:lnTo>
                    <a:pt x="0" y="46964"/>
                  </a:lnTo>
                  <a:cubicBezTo>
                    <a:pt x="0" y="34509"/>
                    <a:pt x="4948" y="22563"/>
                    <a:pt x="13756" y="13756"/>
                  </a:cubicBezTo>
                  <a:cubicBezTo>
                    <a:pt x="22563" y="4948"/>
                    <a:pt x="34509" y="0"/>
                    <a:pt x="46964" y="0"/>
                  </a:cubicBezTo>
                  <a:close/>
                </a:path>
              </a:pathLst>
            </a:custGeom>
            <a:solidFill>
              <a:srgbClr val="11680C"/>
            </a:solidFill>
          </p:spPr>
        </p:sp>
        <p:sp>
          <p:nvSpPr>
            <p:cNvPr id="42" name="TextBox 42"/>
            <p:cNvSpPr txBox="1"/>
            <p:nvPr/>
          </p:nvSpPr>
          <p:spPr>
            <a:xfrm>
              <a:off x="0" y="-47625"/>
              <a:ext cx="2453512" cy="366811"/>
            </a:xfrm>
            <a:prstGeom prst="rect">
              <a:avLst/>
            </a:prstGeom>
          </p:spPr>
          <p:txBody>
            <a:bodyPr lIns="50800" tIns="50800" rIns="50800" bIns="50800" rtlCol="0" anchor="ctr"/>
            <a:lstStyle/>
            <a:p>
              <a:pPr algn="ctr">
                <a:lnSpc>
                  <a:spcPts val="2659"/>
                </a:lnSpc>
              </a:pPr>
              <a:endParaRPr/>
            </a:p>
          </p:txBody>
        </p:sp>
      </p:grpSp>
      <p:sp>
        <p:nvSpPr>
          <p:cNvPr id="43" name="TextBox 43"/>
          <p:cNvSpPr txBox="1"/>
          <p:nvPr/>
        </p:nvSpPr>
        <p:spPr>
          <a:xfrm>
            <a:off x="4870708" y="6436043"/>
            <a:ext cx="7813654" cy="805542"/>
          </a:xfrm>
          <a:prstGeom prst="rect">
            <a:avLst/>
          </a:prstGeom>
        </p:spPr>
        <p:txBody>
          <a:bodyPr lIns="0" tIns="0" rIns="0" bIns="0" rtlCol="0" anchor="t">
            <a:spAutoFit/>
          </a:bodyPr>
          <a:lstStyle/>
          <a:p>
            <a:pPr algn="ctr">
              <a:lnSpc>
                <a:spcPts val="7000"/>
              </a:lnSpc>
              <a:spcBef>
                <a:spcPct val="0"/>
              </a:spcBef>
            </a:pPr>
            <a:r>
              <a:rPr lang="en-US" sz="4400" b="1" dirty="0">
                <a:solidFill>
                  <a:srgbClr val="FFFFFF"/>
                </a:solidFill>
                <a:latin typeface="Times New Roman Bold"/>
                <a:ea typeface="Times New Roman Bold"/>
                <a:cs typeface="Times New Roman Bold"/>
                <a:sym typeface="Times New Roman Bold"/>
              </a:rPr>
              <a:t>Demonstration </a:t>
            </a:r>
            <a:r>
              <a:rPr lang="en-US" sz="4400" b="1" dirty="0" err="1">
                <a:solidFill>
                  <a:srgbClr val="FFFFFF"/>
                </a:solidFill>
                <a:latin typeface="Times New Roman Bold"/>
                <a:ea typeface="Times New Roman Bold"/>
                <a:cs typeface="Times New Roman Bold"/>
                <a:sym typeface="Times New Roman Bold"/>
              </a:rPr>
              <a:t>d’application</a:t>
            </a:r>
            <a:endParaRPr lang="en-US" sz="4400" b="1" dirty="0">
              <a:solidFill>
                <a:srgbClr val="FFFFFF"/>
              </a:solidFill>
              <a:latin typeface="Times New Roman Bold"/>
              <a:ea typeface="Times New Roman Bold"/>
              <a:cs typeface="Times New Roman Bold"/>
              <a:sym typeface="Times New Roman Bold"/>
            </a:endParaRPr>
          </a:p>
        </p:txBody>
      </p:sp>
      <p:grpSp>
        <p:nvGrpSpPr>
          <p:cNvPr id="44" name="Group 44"/>
          <p:cNvGrpSpPr/>
          <p:nvPr/>
        </p:nvGrpSpPr>
        <p:grpSpPr>
          <a:xfrm>
            <a:off x="3541449" y="8013500"/>
            <a:ext cx="10715017" cy="1393953"/>
            <a:chOff x="0" y="0"/>
            <a:chExt cx="2453512" cy="319186"/>
          </a:xfrm>
        </p:grpSpPr>
        <p:sp>
          <p:nvSpPr>
            <p:cNvPr id="45" name="Freeform 45"/>
            <p:cNvSpPr/>
            <p:nvPr/>
          </p:nvSpPr>
          <p:spPr>
            <a:xfrm>
              <a:off x="0" y="0"/>
              <a:ext cx="2453512" cy="319186"/>
            </a:xfrm>
            <a:custGeom>
              <a:avLst/>
              <a:gdLst/>
              <a:ahLst/>
              <a:cxnLst/>
              <a:rect l="l" t="t" r="r" b="b"/>
              <a:pathLst>
                <a:path w="2453512" h="319186">
                  <a:moveTo>
                    <a:pt x="46964" y="0"/>
                  </a:moveTo>
                  <a:lnTo>
                    <a:pt x="2406548" y="0"/>
                  </a:lnTo>
                  <a:cubicBezTo>
                    <a:pt x="2419003" y="0"/>
                    <a:pt x="2430949" y="4948"/>
                    <a:pt x="2439757" y="13756"/>
                  </a:cubicBezTo>
                  <a:cubicBezTo>
                    <a:pt x="2448564" y="22563"/>
                    <a:pt x="2453512" y="34509"/>
                    <a:pt x="2453512" y="46964"/>
                  </a:cubicBezTo>
                  <a:lnTo>
                    <a:pt x="2453512" y="272221"/>
                  </a:lnTo>
                  <a:cubicBezTo>
                    <a:pt x="2453512" y="284677"/>
                    <a:pt x="2448564" y="296623"/>
                    <a:pt x="2439757" y="305430"/>
                  </a:cubicBezTo>
                  <a:cubicBezTo>
                    <a:pt x="2430949" y="314238"/>
                    <a:pt x="2419003" y="319186"/>
                    <a:pt x="2406548" y="319186"/>
                  </a:cubicBezTo>
                  <a:lnTo>
                    <a:pt x="46964" y="319186"/>
                  </a:lnTo>
                  <a:cubicBezTo>
                    <a:pt x="34509" y="319186"/>
                    <a:pt x="22563" y="314238"/>
                    <a:pt x="13756" y="305430"/>
                  </a:cubicBezTo>
                  <a:cubicBezTo>
                    <a:pt x="4948" y="296623"/>
                    <a:pt x="0" y="284677"/>
                    <a:pt x="0" y="272221"/>
                  </a:cubicBezTo>
                  <a:lnTo>
                    <a:pt x="0" y="46964"/>
                  </a:lnTo>
                  <a:cubicBezTo>
                    <a:pt x="0" y="34509"/>
                    <a:pt x="4948" y="22563"/>
                    <a:pt x="13756" y="13756"/>
                  </a:cubicBezTo>
                  <a:cubicBezTo>
                    <a:pt x="22563" y="4948"/>
                    <a:pt x="34509" y="0"/>
                    <a:pt x="46964" y="0"/>
                  </a:cubicBezTo>
                  <a:close/>
                </a:path>
              </a:pathLst>
            </a:custGeom>
            <a:solidFill>
              <a:srgbClr val="11680C"/>
            </a:solidFill>
          </p:spPr>
        </p:sp>
        <p:sp>
          <p:nvSpPr>
            <p:cNvPr id="46" name="TextBox 46"/>
            <p:cNvSpPr txBox="1"/>
            <p:nvPr/>
          </p:nvSpPr>
          <p:spPr>
            <a:xfrm>
              <a:off x="0" y="-47625"/>
              <a:ext cx="2453512" cy="366811"/>
            </a:xfrm>
            <a:prstGeom prst="rect">
              <a:avLst/>
            </a:prstGeom>
          </p:spPr>
          <p:txBody>
            <a:bodyPr lIns="50800" tIns="50800" rIns="50800" bIns="50800" rtlCol="0" anchor="ctr"/>
            <a:lstStyle/>
            <a:p>
              <a:pPr algn="ctr">
                <a:lnSpc>
                  <a:spcPts val="2659"/>
                </a:lnSpc>
              </a:pPr>
              <a:endParaRPr/>
            </a:p>
          </p:txBody>
        </p:sp>
      </p:grpSp>
      <p:sp>
        <p:nvSpPr>
          <p:cNvPr id="47" name="TextBox 47"/>
          <p:cNvSpPr txBox="1"/>
          <p:nvPr/>
        </p:nvSpPr>
        <p:spPr>
          <a:xfrm>
            <a:off x="7684236" y="8197714"/>
            <a:ext cx="3034665" cy="805542"/>
          </a:xfrm>
          <a:prstGeom prst="rect">
            <a:avLst/>
          </a:prstGeom>
        </p:spPr>
        <p:txBody>
          <a:bodyPr lIns="0" tIns="0" rIns="0" bIns="0" rtlCol="0" anchor="t">
            <a:spAutoFit/>
          </a:bodyPr>
          <a:lstStyle/>
          <a:p>
            <a:pPr algn="ctr">
              <a:lnSpc>
                <a:spcPts val="7000"/>
              </a:lnSpc>
              <a:spcBef>
                <a:spcPct val="0"/>
              </a:spcBef>
            </a:pPr>
            <a:r>
              <a:rPr lang="en-US" sz="4400" b="1" dirty="0">
                <a:solidFill>
                  <a:srgbClr val="FFFFFF"/>
                </a:solidFill>
                <a:latin typeface="Times New Roman Bold"/>
                <a:ea typeface="Times New Roman Bold"/>
                <a:cs typeface="Times New Roman Bold"/>
                <a:sym typeface="Times New Roman Bold"/>
              </a:rPr>
              <a:t>Conclusion</a:t>
            </a:r>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887650" y="-790375"/>
            <a:ext cx="8740875" cy="8740875"/>
          </a:xfrm>
          <a:custGeom>
            <a:avLst/>
            <a:gdLst/>
            <a:ahLst/>
            <a:cxnLst/>
            <a:rect l="l" t="t" r="r" b="b"/>
            <a:pathLst>
              <a:path w="8740875" h="8740875">
                <a:moveTo>
                  <a:pt x="8740875" y="0"/>
                </a:moveTo>
                <a:lnTo>
                  <a:pt x="0" y="0"/>
                </a:lnTo>
                <a:lnTo>
                  <a:pt x="0" y="8740875"/>
                </a:lnTo>
                <a:lnTo>
                  <a:pt x="8740875" y="8740875"/>
                </a:lnTo>
                <a:lnTo>
                  <a:pt x="874087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340525" y="2336500"/>
            <a:ext cx="8740875" cy="8740875"/>
          </a:xfrm>
          <a:custGeom>
            <a:avLst/>
            <a:gdLst/>
            <a:ahLst/>
            <a:cxnLst/>
            <a:rect l="l" t="t" r="r" b="b"/>
            <a:pathLst>
              <a:path w="8740875" h="8740875">
                <a:moveTo>
                  <a:pt x="0" y="8740875"/>
                </a:moveTo>
                <a:lnTo>
                  <a:pt x="8740875" y="8740875"/>
                </a:lnTo>
                <a:lnTo>
                  <a:pt x="8740875" y="0"/>
                </a:lnTo>
                <a:lnTo>
                  <a:pt x="0" y="0"/>
                </a:lnTo>
                <a:lnTo>
                  <a:pt x="0" y="874087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4631013" y="683475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457813" y="-662557"/>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7348807" y="-1501802"/>
            <a:ext cx="486295" cy="4114800"/>
          </a:xfrm>
          <a:custGeom>
            <a:avLst/>
            <a:gdLst/>
            <a:ahLst/>
            <a:cxnLst/>
            <a:rect l="l" t="t" r="r" b="b"/>
            <a:pathLst>
              <a:path w="486295" h="4114800">
                <a:moveTo>
                  <a:pt x="0" y="0"/>
                </a:moveTo>
                <a:lnTo>
                  <a:pt x="486294" y="0"/>
                </a:lnTo>
                <a:lnTo>
                  <a:pt x="4862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flipV="1">
            <a:off x="10452899" y="7674002"/>
            <a:ext cx="486295" cy="4114800"/>
          </a:xfrm>
          <a:custGeom>
            <a:avLst/>
            <a:gdLst/>
            <a:ahLst/>
            <a:cxnLst/>
            <a:rect l="l" t="t" r="r" b="b"/>
            <a:pathLst>
              <a:path w="486295" h="4114800">
                <a:moveTo>
                  <a:pt x="0" y="4114800"/>
                </a:moveTo>
                <a:lnTo>
                  <a:pt x="486294" y="4114800"/>
                </a:lnTo>
                <a:lnTo>
                  <a:pt x="486294"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6908934" y="1394843"/>
            <a:ext cx="2708372" cy="270837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7163533" y="1914985"/>
            <a:ext cx="2199175" cy="1537259"/>
          </a:xfrm>
          <a:prstGeom prst="rect">
            <a:avLst/>
          </a:prstGeom>
        </p:spPr>
        <p:txBody>
          <a:bodyPr lIns="0" tIns="0" rIns="0" bIns="0" rtlCol="0" anchor="t">
            <a:spAutoFit/>
          </a:bodyPr>
          <a:lstStyle/>
          <a:p>
            <a:pPr algn="ctr">
              <a:lnSpc>
                <a:spcPts val="12533"/>
              </a:lnSpc>
            </a:pPr>
            <a:r>
              <a:rPr lang="en-US" sz="8952">
                <a:solidFill>
                  <a:srgbClr val="000000"/>
                </a:solidFill>
                <a:latin typeface="Helvetica World"/>
                <a:ea typeface="Helvetica World"/>
                <a:cs typeface="Helvetica World"/>
                <a:sym typeface="Helvetica World"/>
              </a:rPr>
              <a:t>1</a:t>
            </a:r>
          </a:p>
        </p:txBody>
      </p:sp>
      <p:sp>
        <p:nvSpPr>
          <p:cNvPr id="12" name="TextBox 12"/>
          <p:cNvSpPr txBox="1"/>
          <p:nvPr/>
        </p:nvSpPr>
        <p:spPr>
          <a:xfrm>
            <a:off x="2532706" y="3874615"/>
            <a:ext cx="12419195" cy="1518236"/>
          </a:xfrm>
          <a:prstGeom prst="rect">
            <a:avLst/>
          </a:prstGeom>
        </p:spPr>
        <p:txBody>
          <a:bodyPr lIns="0" tIns="0" rIns="0" bIns="0" rtlCol="0" anchor="t">
            <a:spAutoFit/>
          </a:bodyPr>
          <a:lstStyle/>
          <a:p>
            <a:pPr algn="ctr">
              <a:lnSpc>
                <a:spcPts val="12926"/>
              </a:lnSpc>
              <a:spcBef>
                <a:spcPct val="0"/>
              </a:spcBef>
            </a:pPr>
            <a:r>
              <a:rPr lang="en-US" sz="9233" b="1" dirty="0">
                <a:solidFill>
                  <a:srgbClr val="11680C"/>
                </a:solidFill>
                <a:latin typeface="Times New Roman Bold"/>
                <a:ea typeface="Times New Roman Bold"/>
                <a:cs typeface="Times New Roman Bold"/>
                <a:sym typeface="Times New Roman Bold"/>
              </a:rPr>
              <a:t>Introduction </a:t>
            </a:r>
          </a:p>
        </p:txBody>
      </p:sp>
      <p:sp>
        <p:nvSpPr>
          <p:cNvPr id="13" name="TextBox 13"/>
          <p:cNvSpPr txBox="1"/>
          <p:nvPr/>
        </p:nvSpPr>
        <p:spPr>
          <a:xfrm>
            <a:off x="5840294" y="5592771"/>
            <a:ext cx="5804018" cy="1403469"/>
          </a:xfrm>
          <a:prstGeom prst="rect">
            <a:avLst/>
          </a:prstGeom>
        </p:spPr>
        <p:txBody>
          <a:bodyPr wrap="square" lIns="0" tIns="0" rIns="0" bIns="0" rtlCol="0" anchor="t">
            <a:spAutoFit/>
          </a:bodyPr>
          <a:lstStyle/>
          <a:p>
            <a:pPr marL="863599" lvl="1" indent="-431800" algn="l">
              <a:lnSpc>
                <a:spcPts val="5599"/>
              </a:lnSpc>
              <a:buFont typeface="Arial"/>
              <a:buChar char="•"/>
            </a:pPr>
            <a:r>
              <a:rPr lang="en-US" sz="3999" b="1" dirty="0" err="1">
                <a:solidFill>
                  <a:srgbClr val="000000"/>
                </a:solidFill>
                <a:latin typeface="Times New Roman Bold"/>
                <a:ea typeface="Times New Roman Bold"/>
                <a:cs typeface="Times New Roman Bold"/>
                <a:sym typeface="Times New Roman Bold"/>
              </a:rPr>
              <a:t>Problématique</a:t>
            </a:r>
            <a:endParaRPr lang="en-US" sz="3999" b="1" dirty="0">
              <a:solidFill>
                <a:srgbClr val="000000"/>
              </a:solidFill>
              <a:latin typeface="Times New Roman Bold"/>
              <a:ea typeface="Times New Roman Bold"/>
              <a:cs typeface="Times New Roman Bold"/>
              <a:sym typeface="Times New Roman Bold"/>
            </a:endParaRPr>
          </a:p>
          <a:p>
            <a:pPr marL="863599" lvl="1" indent="-431800" algn="l">
              <a:lnSpc>
                <a:spcPts val="5599"/>
              </a:lnSpc>
              <a:buFont typeface="Arial"/>
              <a:buChar char="•"/>
            </a:pPr>
            <a:r>
              <a:rPr lang="en-US" sz="3999" b="1" dirty="0" err="1">
                <a:solidFill>
                  <a:srgbClr val="000000"/>
                </a:solidFill>
                <a:latin typeface="Times New Roman Bold"/>
                <a:ea typeface="Times New Roman Bold"/>
                <a:cs typeface="Times New Roman Bold"/>
                <a:sym typeface="Times New Roman Bold"/>
              </a:rPr>
              <a:t>Objectifs</a:t>
            </a:r>
            <a:r>
              <a:rPr lang="en-US" sz="3999" b="1" dirty="0">
                <a:solidFill>
                  <a:srgbClr val="000000"/>
                </a:solidFill>
                <a:latin typeface="Times New Roman Bold"/>
                <a:ea typeface="Times New Roman Bold"/>
                <a:cs typeface="Times New Roman Bold"/>
                <a:sym typeface="Times New Roman Bold"/>
              </a:rPr>
              <a:t> du </a:t>
            </a:r>
            <a:r>
              <a:rPr lang="en-US" sz="3999" b="1" dirty="0" err="1">
                <a:solidFill>
                  <a:srgbClr val="000000"/>
                </a:solidFill>
                <a:latin typeface="Times New Roman Bold"/>
                <a:ea typeface="Times New Roman Bold"/>
                <a:cs typeface="Times New Roman Bold"/>
                <a:sym typeface="Times New Roman Bold"/>
              </a:rPr>
              <a:t>Projet</a:t>
            </a:r>
            <a:endParaRPr lang="en-US" sz="3999" b="1" dirty="0">
              <a:solidFill>
                <a:srgbClr val="000000"/>
              </a:solidFill>
              <a:latin typeface="Times New Roman Bold"/>
              <a:ea typeface="Times New Roman Bold"/>
              <a:cs typeface="Times New Roman Bold"/>
              <a:sym typeface="Times New Roman Bold"/>
            </a:endParaRP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15715" y="2217292"/>
            <a:ext cx="8923133" cy="958850"/>
          </a:xfrm>
          <a:prstGeom prst="rect">
            <a:avLst/>
          </a:prstGeom>
        </p:spPr>
        <p:txBody>
          <a:bodyPr lIns="0" tIns="0" rIns="0" bIns="0" rtlCol="0" anchor="t">
            <a:spAutoFit/>
          </a:bodyPr>
          <a:lstStyle/>
          <a:p>
            <a:pPr algn="l">
              <a:lnSpc>
                <a:spcPts val="6999"/>
              </a:lnSpc>
            </a:pPr>
            <a:r>
              <a:rPr lang="en-US" sz="6999" b="1" spc="209">
                <a:solidFill>
                  <a:srgbClr val="11680C"/>
                </a:solidFill>
                <a:latin typeface="Times New Roman Bold"/>
                <a:ea typeface="Times New Roman Bold"/>
                <a:cs typeface="Times New Roman Bold"/>
                <a:sym typeface="Times New Roman Bold"/>
              </a:rPr>
              <a:t>PROBLÉMATIQUE</a:t>
            </a:r>
          </a:p>
        </p:txBody>
      </p:sp>
      <p:sp>
        <p:nvSpPr>
          <p:cNvPr id="3" name="TextBox 3"/>
          <p:cNvSpPr txBox="1"/>
          <p:nvPr/>
        </p:nvSpPr>
        <p:spPr>
          <a:xfrm>
            <a:off x="1562085" y="3368010"/>
            <a:ext cx="9802653" cy="4274661"/>
          </a:xfrm>
          <a:prstGeom prst="rect">
            <a:avLst/>
          </a:prstGeom>
        </p:spPr>
        <p:txBody>
          <a:bodyPr lIns="0" tIns="0" rIns="0" bIns="0" rtlCol="0" anchor="t">
            <a:spAutoFit/>
          </a:bodyPr>
          <a:lstStyle/>
          <a:p>
            <a:pPr algn="just">
              <a:lnSpc>
                <a:spcPts val="4250"/>
              </a:lnSpc>
            </a:pPr>
            <a:endParaRPr/>
          </a:p>
          <a:p>
            <a:pPr algn="just">
              <a:lnSpc>
                <a:spcPts val="4250"/>
              </a:lnSpc>
            </a:pPr>
            <a:r>
              <a:rPr lang="en-US" sz="3400">
                <a:solidFill>
                  <a:srgbClr val="000000"/>
                </a:solidFill>
                <a:latin typeface="Helvetica World"/>
                <a:ea typeface="Helvetica World"/>
                <a:cs typeface="Helvetica World"/>
                <a:sym typeface="Helvetica World"/>
              </a:rPr>
              <a:t>Comment peut-on identifier de manière automatisée et fiable l'auteur d'un document manuscrit, tout en garantissant une précision optimale malgré la variabilité naturelle de l'écriture humaine et les contraintes techniques liées à la qualité des images ?</a:t>
            </a:r>
          </a:p>
          <a:p>
            <a:pPr algn="l">
              <a:lnSpc>
                <a:spcPts val="4250"/>
              </a:lnSpc>
            </a:pPr>
            <a:endParaRPr lang="en-US" sz="3400">
              <a:solidFill>
                <a:srgbClr val="000000"/>
              </a:solidFill>
              <a:latin typeface="Helvetica World"/>
              <a:ea typeface="Helvetica World"/>
              <a:cs typeface="Helvetica World"/>
              <a:sym typeface="Helvetica World"/>
            </a:endParaRPr>
          </a:p>
        </p:txBody>
      </p:sp>
      <p:sp>
        <p:nvSpPr>
          <p:cNvPr id="4" name="Freeform 4"/>
          <p:cNvSpPr/>
          <p:nvPr/>
        </p:nvSpPr>
        <p:spPr>
          <a:xfrm flipH="1">
            <a:off x="12716789" y="-267123"/>
            <a:ext cx="5822905" cy="5822905"/>
          </a:xfrm>
          <a:custGeom>
            <a:avLst/>
            <a:gdLst/>
            <a:ahLst/>
            <a:cxnLst/>
            <a:rect l="l" t="t" r="r" b="b"/>
            <a:pathLst>
              <a:path w="5822905" h="5822905">
                <a:moveTo>
                  <a:pt x="5822905" y="0"/>
                </a:moveTo>
                <a:lnTo>
                  <a:pt x="0" y="0"/>
                </a:lnTo>
                <a:lnTo>
                  <a:pt x="0" y="5822904"/>
                </a:lnTo>
                <a:lnTo>
                  <a:pt x="5822905" y="5822904"/>
                </a:lnTo>
                <a:lnTo>
                  <a:pt x="582290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251694" y="4731219"/>
            <a:ext cx="5822905" cy="5822905"/>
          </a:xfrm>
          <a:custGeom>
            <a:avLst/>
            <a:gdLst/>
            <a:ahLst/>
            <a:cxnLst/>
            <a:rect l="l" t="t" r="r" b="b"/>
            <a:pathLst>
              <a:path w="5822905" h="5822905">
                <a:moveTo>
                  <a:pt x="0" y="5822904"/>
                </a:moveTo>
                <a:lnTo>
                  <a:pt x="5822905" y="5822904"/>
                </a:lnTo>
                <a:lnTo>
                  <a:pt x="5822905" y="0"/>
                </a:lnTo>
                <a:lnTo>
                  <a:pt x="0" y="0"/>
                </a:lnTo>
                <a:lnTo>
                  <a:pt x="0" y="582290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386744" y="-500426"/>
            <a:ext cx="4406072" cy="4406072"/>
          </a:xfrm>
          <a:custGeom>
            <a:avLst/>
            <a:gdLst/>
            <a:ahLst/>
            <a:cxnLst/>
            <a:rect l="l" t="t" r="r" b="b"/>
            <a:pathLst>
              <a:path w="4406072" h="4406072">
                <a:moveTo>
                  <a:pt x="0" y="0"/>
                </a:moveTo>
                <a:lnTo>
                  <a:pt x="4406071" y="0"/>
                </a:lnTo>
                <a:lnTo>
                  <a:pt x="4406071" y="4406072"/>
                </a:lnTo>
                <a:lnTo>
                  <a:pt x="0" y="44060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1918628" y="1517758"/>
            <a:ext cx="4961697" cy="5502218"/>
          </a:xfrm>
          <a:custGeom>
            <a:avLst/>
            <a:gdLst/>
            <a:ahLst/>
            <a:cxnLst/>
            <a:rect l="l" t="t" r="r" b="b"/>
            <a:pathLst>
              <a:path w="4961697" h="5502218">
                <a:moveTo>
                  <a:pt x="0" y="0"/>
                </a:moveTo>
                <a:lnTo>
                  <a:pt x="4961697" y="0"/>
                </a:lnTo>
                <a:lnTo>
                  <a:pt x="4961697" y="5502218"/>
                </a:lnTo>
                <a:lnTo>
                  <a:pt x="0" y="5502218"/>
                </a:lnTo>
                <a:lnTo>
                  <a:pt x="0" y="0"/>
                </a:lnTo>
                <a:close/>
              </a:path>
            </a:pathLst>
          </a:custGeom>
          <a:blipFill>
            <a:blip r:embed="rId6"/>
            <a:stretch>
              <a:fillRect/>
            </a:stretch>
          </a:blipFill>
        </p:spPr>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7940" y="7146195"/>
            <a:ext cx="3235344" cy="3235344"/>
          </a:xfrm>
          <a:custGeom>
            <a:avLst/>
            <a:gdLst/>
            <a:ahLst/>
            <a:cxnLst/>
            <a:rect l="l" t="t" r="r" b="b"/>
            <a:pathLst>
              <a:path w="3235344" h="3235344">
                <a:moveTo>
                  <a:pt x="0" y="0"/>
                </a:moveTo>
                <a:lnTo>
                  <a:pt x="3235344" y="0"/>
                </a:lnTo>
                <a:lnTo>
                  <a:pt x="3235344" y="3235343"/>
                </a:lnTo>
                <a:lnTo>
                  <a:pt x="0" y="32353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758255" y="-447275"/>
            <a:ext cx="3870141" cy="3870141"/>
          </a:xfrm>
          <a:custGeom>
            <a:avLst/>
            <a:gdLst/>
            <a:ahLst/>
            <a:cxnLst/>
            <a:rect l="l" t="t" r="r" b="b"/>
            <a:pathLst>
              <a:path w="3870141" h="3870141">
                <a:moveTo>
                  <a:pt x="0" y="3870141"/>
                </a:moveTo>
                <a:lnTo>
                  <a:pt x="3870141" y="3870141"/>
                </a:lnTo>
                <a:lnTo>
                  <a:pt x="3870141" y="0"/>
                </a:lnTo>
                <a:lnTo>
                  <a:pt x="0" y="0"/>
                </a:lnTo>
                <a:lnTo>
                  <a:pt x="0" y="3870141"/>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675627" y="3985660"/>
            <a:ext cx="3824745" cy="4338478"/>
            <a:chOff x="0" y="0"/>
            <a:chExt cx="1111349" cy="1260624"/>
          </a:xfrm>
        </p:grpSpPr>
        <p:sp>
          <p:nvSpPr>
            <p:cNvPr id="5" name="Freeform 5"/>
            <p:cNvSpPr/>
            <p:nvPr/>
          </p:nvSpPr>
          <p:spPr>
            <a:xfrm>
              <a:off x="0" y="0"/>
              <a:ext cx="1111349" cy="1260624"/>
            </a:xfrm>
            <a:custGeom>
              <a:avLst/>
              <a:gdLst/>
              <a:ahLst/>
              <a:cxnLst/>
              <a:rect l="l" t="t" r="r" b="b"/>
              <a:pathLst>
                <a:path w="1111349" h="1260624">
                  <a:moveTo>
                    <a:pt x="103232" y="0"/>
                  </a:moveTo>
                  <a:lnTo>
                    <a:pt x="1008117" y="0"/>
                  </a:lnTo>
                  <a:cubicBezTo>
                    <a:pt x="1065130" y="0"/>
                    <a:pt x="1111349" y="46219"/>
                    <a:pt x="1111349" y="103232"/>
                  </a:cubicBezTo>
                  <a:lnTo>
                    <a:pt x="1111349" y="1157391"/>
                  </a:lnTo>
                  <a:cubicBezTo>
                    <a:pt x="1111349" y="1214405"/>
                    <a:pt x="1065130" y="1260624"/>
                    <a:pt x="1008117" y="1260624"/>
                  </a:cubicBezTo>
                  <a:lnTo>
                    <a:pt x="103232" y="1260624"/>
                  </a:lnTo>
                  <a:cubicBezTo>
                    <a:pt x="46219" y="1260624"/>
                    <a:pt x="0" y="1214405"/>
                    <a:pt x="0" y="1157391"/>
                  </a:cubicBezTo>
                  <a:lnTo>
                    <a:pt x="0" y="103232"/>
                  </a:lnTo>
                  <a:cubicBezTo>
                    <a:pt x="0" y="46219"/>
                    <a:pt x="46219" y="0"/>
                    <a:pt x="103232" y="0"/>
                  </a:cubicBezTo>
                  <a:close/>
                </a:path>
              </a:pathLst>
            </a:custGeom>
            <a:solidFill>
              <a:srgbClr val="11680C"/>
            </a:solidFill>
          </p:spPr>
        </p:sp>
        <p:sp>
          <p:nvSpPr>
            <p:cNvPr id="6" name="TextBox 6"/>
            <p:cNvSpPr txBox="1"/>
            <p:nvPr/>
          </p:nvSpPr>
          <p:spPr>
            <a:xfrm>
              <a:off x="0" y="-47625"/>
              <a:ext cx="1111349" cy="1308249"/>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5103660" y="3985660"/>
            <a:ext cx="3704133" cy="4338478"/>
            <a:chOff x="0" y="0"/>
            <a:chExt cx="1076303" cy="1260624"/>
          </a:xfrm>
        </p:grpSpPr>
        <p:sp>
          <p:nvSpPr>
            <p:cNvPr id="8" name="Freeform 8"/>
            <p:cNvSpPr/>
            <p:nvPr/>
          </p:nvSpPr>
          <p:spPr>
            <a:xfrm>
              <a:off x="0" y="0"/>
              <a:ext cx="1076303" cy="1260624"/>
            </a:xfrm>
            <a:custGeom>
              <a:avLst/>
              <a:gdLst/>
              <a:ahLst/>
              <a:cxnLst/>
              <a:rect l="l" t="t" r="r" b="b"/>
              <a:pathLst>
                <a:path w="1076303" h="1260624">
                  <a:moveTo>
                    <a:pt x="106594" y="0"/>
                  </a:moveTo>
                  <a:lnTo>
                    <a:pt x="969709" y="0"/>
                  </a:lnTo>
                  <a:cubicBezTo>
                    <a:pt x="1028579" y="0"/>
                    <a:pt x="1076303" y="47724"/>
                    <a:pt x="1076303" y="106594"/>
                  </a:cubicBezTo>
                  <a:lnTo>
                    <a:pt x="1076303" y="1154030"/>
                  </a:lnTo>
                  <a:cubicBezTo>
                    <a:pt x="1076303" y="1212900"/>
                    <a:pt x="1028579" y="1260624"/>
                    <a:pt x="969709" y="1260624"/>
                  </a:cubicBezTo>
                  <a:lnTo>
                    <a:pt x="106594" y="1260624"/>
                  </a:lnTo>
                  <a:cubicBezTo>
                    <a:pt x="47724" y="1260624"/>
                    <a:pt x="0" y="1212900"/>
                    <a:pt x="0" y="1154030"/>
                  </a:cubicBezTo>
                  <a:lnTo>
                    <a:pt x="0" y="106594"/>
                  </a:lnTo>
                  <a:cubicBezTo>
                    <a:pt x="0" y="47724"/>
                    <a:pt x="47724" y="0"/>
                    <a:pt x="106594" y="0"/>
                  </a:cubicBezTo>
                  <a:close/>
                </a:path>
              </a:pathLst>
            </a:custGeom>
            <a:solidFill>
              <a:srgbClr val="11680C"/>
            </a:solidFill>
          </p:spPr>
        </p:sp>
        <p:sp>
          <p:nvSpPr>
            <p:cNvPr id="9" name="TextBox 9"/>
            <p:cNvSpPr txBox="1"/>
            <p:nvPr/>
          </p:nvSpPr>
          <p:spPr>
            <a:xfrm>
              <a:off x="0" y="-47625"/>
              <a:ext cx="1076303" cy="1308249"/>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9531694" y="3985660"/>
            <a:ext cx="3824745" cy="4338478"/>
            <a:chOff x="0" y="0"/>
            <a:chExt cx="1111349" cy="1260624"/>
          </a:xfrm>
        </p:grpSpPr>
        <p:sp>
          <p:nvSpPr>
            <p:cNvPr id="11" name="Freeform 11"/>
            <p:cNvSpPr/>
            <p:nvPr/>
          </p:nvSpPr>
          <p:spPr>
            <a:xfrm>
              <a:off x="0" y="0"/>
              <a:ext cx="1111349" cy="1260624"/>
            </a:xfrm>
            <a:custGeom>
              <a:avLst/>
              <a:gdLst/>
              <a:ahLst/>
              <a:cxnLst/>
              <a:rect l="l" t="t" r="r" b="b"/>
              <a:pathLst>
                <a:path w="1111349" h="1260624">
                  <a:moveTo>
                    <a:pt x="103232" y="0"/>
                  </a:moveTo>
                  <a:lnTo>
                    <a:pt x="1008117" y="0"/>
                  </a:lnTo>
                  <a:cubicBezTo>
                    <a:pt x="1065130" y="0"/>
                    <a:pt x="1111349" y="46219"/>
                    <a:pt x="1111349" y="103232"/>
                  </a:cubicBezTo>
                  <a:lnTo>
                    <a:pt x="1111349" y="1157391"/>
                  </a:lnTo>
                  <a:cubicBezTo>
                    <a:pt x="1111349" y="1214405"/>
                    <a:pt x="1065130" y="1260624"/>
                    <a:pt x="1008117" y="1260624"/>
                  </a:cubicBezTo>
                  <a:lnTo>
                    <a:pt x="103232" y="1260624"/>
                  </a:lnTo>
                  <a:cubicBezTo>
                    <a:pt x="46219" y="1260624"/>
                    <a:pt x="0" y="1214405"/>
                    <a:pt x="0" y="1157391"/>
                  </a:cubicBezTo>
                  <a:lnTo>
                    <a:pt x="0" y="103232"/>
                  </a:lnTo>
                  <a:cubicBezTo>
                    <a:pt x="0" y="46219"/>
                    <a:pt x="46219" y="0"/>
                    <a:pt x="103232" y="0"/>
                  </a:cubicBezTo>
                  <a:close/>
                </a:path>
              </a:pathLst>
            </a:custGeom>
            <a:solidFill>
              <a:srgbClr val="11680C"/>
            </a:solidFill>
          </p:spPr>
        </p:sp>
        <p:sp>
          <p:nvSpPr>
            <p:cNvPr id="12" name="TextBox 12"/>
            <p:cNvSpPr txBox="1"/>
            <p:nvPr/>
          </p:nvSpPr>
          <p:spPr>
            <a:xfrm>
              <a:off x="0" y="-47625"/>
              <a:ext cx="1111349" cy="130824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843162" y="3286340"/>
            <a:ext cx="1398639" cy="139863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6271195" y="3286340"/>
            <a:ext cx="1398639" cy="139863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0699228" y="3286340"/>
            <a:ext cx="1398639" cy="139863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21" name="TextBox 2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949874" y="5124450"/>
            <a:ext cx="3146243" cy="1372235"/>
          </a:xfrm>
          <a:prstGeom prst="rect">
            <a:avLst/>
          </a:prstGeom>
        </p:spPr>
        <p:txBody>
          <a:bodyPr lIns="0" tIns="0" rIns="0" bIns="0" rtlCol="0" anchor="t">
            <a:spAutoFit/>
          </a:bodyPr>
          <a:lstStyle/>
          <a:p>
            <a:pPr algn="l">
              <a:lnSpc>
                <a:spcPts val="3625"/>
              </a:lnSpc>
            </a:pPr>
            <a:r>
              <a:rPr lang="en-US" sz="2900">
                <a:solidFill>
                  <a:srgbClr val="FFFFFF"/>
                </a:solidFill>
                <a:latin typeface="Helvetica World"/>
                <a:ea typeface="Helvetica World"/>
                <a:cs typeface="Helvetica World"/>
                <a:sym typeface="Helvetica World"/>
              </a:rPr>
              <a:t>Développer un système robuste et précis</a:t>
            </a:r>
          </a:p>
        </p:txBody>
      </p:sp>
      <p:sp>
        <p:nvSpPr>
          <p:cNvPr id="23" name="TextBox 23"/>
          <p:cNvSpPr txBox="1"/>
          <p:nvPr/>
        </p:nvSpPr>
        <p:spPr>
          <a:xfrm>
            <a:off x="2026635" y="3581800"/>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1</a:t>
            </a:r>
          </a:p>
        </p:txBody>
      </p:sp>
      <p:sp>
        <p:nvSpPr>
          <p:cNvPr id="24" name="TextBox 24"/>
          <p:cNvSpPr txBox="1"/>
          <p:nvPr/>
        </p:nvSpPr>
        <p:spPr>
          <a:xfrm>
            <a:off x="6454668" y="3581800"/>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2</a:t>
            </a:r>
          </a:p>
        </p:txBody>
      </p:sp>
      <p:sp>
        <p:nvSpPr>
          <p:cNvPr id="25" name="TextBox 25"/>
          <p:cNvSpPr txBox="1"/>
          <p:nvPr/>
        </p:nvSpPr>
        <p:spPr>
          <a:xfrm>
            <a:off x="10882701" y="3581800"/>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3</a:t>
            </a:r>
          </a:p>
        </p:txBody>
      </p:sp>
      <p:sp>
        <p:nvSpPr>
          <p:cNvPr id="26" name="TextBox 26"/>
          <p:cNvSpPr txBox="1"/>
          <p:nvPr/>
        </p:nvSpPr>
        <p:spPr>
          <a:xfrm>
            <a:off x="5464456" y="5080357"/>
            <a:ext cx="3103154" cy="2327045"/>
          </a:xfrm>
          <a:prstGeom prst="rect">
            <a:avLst/>
          </a:prstGeom>
        </p:spPr>
        <p:txBody>
          <a:bodyPr lIns="0" tIns="0" rIns="0" bIns="0" rtlCol="0" anchor="t">
            <a:spAutoFit/>
          </a:bodyPr>
          <a:lstStyle/>
          <a:p>
            <a:pPr algn="l">
              <a:lnSpc>
                <a:spcPts val="3689"/>
              </a:lnSpc>
            </a:pPr>
            <a:r>
              <a:rPr lang="en-US" sz="2951">
                <a:solidFill>
                  <a:srgbClr val="FFFFFF"/>
                </a:solidFill>
                <a:latin typeface="Helvetica World"/>
                <a:ea typeface="Helvetica World"/>
                <a:cs typeface="Helvetica World"/>
                <a:sym typeface="Helvetica World"/>
              </a:rPr>
              <a:t>Utiliser des techniques de vision par ordinateur et machine learning</a:t>
            </a:r>
          </a:p>
        </p:txBody>
      </p:sp>
      <p:sp>
        <p:nvSpPr>
          <p:cNvPr id="27" name="TextBox 27"/>
          <p:cNvSpPr txBox="1"/>
          <p:nvPr/>
        </p:nvSpPr>
        <p:spPr>
          <a:xfrm>
            <a:off x="9825426" y="5080357"/>
            <a:ext cx="3146243" cy="1372235"/>
          </a:xfrm>
          <a:prstGeom prst="rect">
            <a:avLst/>
          </a:prstGeom>
        </p:spPr>
        <p:txBody>
          <a:bodyPr lIns="0" tIns="0" rIns="0" bIns="0" rtlCol="0" anchor="t">
            <a:spAutoFit/>
          </a:bodyPr>
          <a:lstStyle/>
          <a:p>
            <a:pPr algn="l">
              <a:lnSpc>
                <a:spcPts val="3625"/>
              </a:lnSpc>
            </a:pPr>
            <a:r>
              <a:rPr lang="en-US" sz="2900">
                <a:solidFill>
                  <a:srgbClr val="FFFFFF"/>
                </a:solidFill>
                <a:latin typeface="Helvetica World"/>
                <a:ea typeface="Helvetica World"/>
                <a:cs typeface="Helvetica World"/>
                <a:sym typeface="Helvetica World"/>
              </a:rPr>
              <a:t>Créer une interface web intuitive pour la prédiction</a:t>
            </a:r>
          </a:p>
        </p:txBody>
      </p:sp>
      <p:grpSp>
        <p:nvGrpSpPr>
          <p:cNvPr id="28" name="Group 28"/>
          <p:cNvGrpSpPr/>
          <p:nvPr/>
        </p:nvGrpSpPr>
        <p:grpSpPr>
          <a:xfrm>
            <a:off x="13848992" y="3895053"/>
            <a:ext cx="3824745" cy="4338478"/>
            <a:chOff x="0" y="0"/>
            <a:chExt cx="1111349" cy="1260624"/>
          </a:xfrm>
        </p:grpSpPr>
        <p:sp>
          <p:nvSpPr>
            <p:cNvPr id="29" name="Freeform 29"/>
            <p:cNvSpPr/>
            <p:nvPr/>
          </p:nvSpPr>
          <p:spPr>
            <a:xfrm>
              <a:off x="0" y="0"/>
              <a:ext cx="1111349" cy="1260624"/>
            </a:xfrm>
            <a:custGeom>
              <a:avLst/>
              <a:gdLst/>
              <a:ahLst/>
              <a:cxnLst/>
              <a:rect l="l" t="t" r="r" b="b"/>
              <a:pathLst>
                <a:path w="1111349" h="1260624">
                  <a:moveTo>
                    <a:pt x="103232" y="0"/>
                  </a:moveTo>
                  <a:lnTo>
                    <a:pt x="1008117" y="0"/>
                  </a:lnTo>
                  <a:cubicBezTo>
                    <a:pt x="1065130" y="0"/>
                    <a:pt x="1111349" y="46219"/>
                    <a:pt x="1111349" y="103232"/>
                  </a:cubicBezTo>
                  <a:lnTo>
                    <a:pt x="1111349" y="1157391"/>
                  </a:lnTo>
                  <a:cubicBezTo>
                    <a:pt x="1111349" y="1214405"/>
                    <a:pt x="1065130" y="1260624"/>
                    <a:pt x="1008117" y="1260624"/>
                  </a:cubicBezTo>
                  <a:lnTo>
                    <a:pt x="103232" y="1260624"/>
                  </a:lnTo>
                  <a:cubicBezTo>
                    <a:pt x="46219" y="1260624"/>
                    <a:pt x="0" y="1214405"/>
                    <a:pt x="0" y="1157391"/>
                  </a:cubicBezTo>
                  <a:lnTo>
                    <a:pt x="0" y="103232"/>
                  </a:lnTo>
                  <a:cubicBezTo>
                    <a:pt x="0" y="46219"/>
                    <a:pt x="46219" y="0"/>
                    <a:pt x="103232" y="0"/>
                  </a:cubicBezTo>
                  <a:close/>
                </a:path>
              </a:pathLst>
            </a:custGeom>
            <a:solidFill>
              <a:srgbClr val="11680C"/>
            </a:solidFill>
          </p:spPr>
        </p:sp>
        <p:sp>
          <p:nvSpPr>
            <p:cNvPr id="30" name="TextBox 30"/>
            <p:cNvSpPr txBox="1"/>
            <p:nvPr/>
          </p:nvSpPr>
          <p:spPr>
            <a:xfrm>
              <a:off x="0" y="-47625"/>
              <a:ext cx="1111349" cy="1308249"/>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a:off x="15016527" y="3195733"/>
            <a:ext cx="1398639" cy="1398639"/>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33" name="TextBox 3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15200000" y="3491193"/>
            <a:ext cx="1031693" cy="721995"/>
          </a:xfrm>
          <a:prstGeom prst="rect">
            <a:avLst/>
          </a:prstGeom>
        </p:spPr>
        <p:txBody>
          <a:bodyPr lIns="0" tIns="0" rIns="0" bIns="0" rtlCol="0" anchor="t">
            <a:spAutoFit/>
          </a:bodyPr>
          <a:lstStyle/>
          <a:p>
            <a:pPr algn="ctr">
              <a:lnSpc>
                <a:spcPts val="5880"/>
              </a:lnSpc>
            </a:pPr>
            <a:r>
              <a:rPr lang="en-US" sz="4200">
                <a:solidFill>
                  <a:srgbClr val="000000"/>
                </a:solidFill>
                <a:latin typeface="Helvetica World"/>
                <a:ea typeface="Helvetica World"/>
                <a:cs typeface="Helvetica World"/>
                <a:sym typeface="Helvetica World"/>
              </a:rPr>
              <a:t>4</a:t>
            </a:r>
          </a:p>
        </p:txBody>
      </p:sp>
      <p:sp>
        <p:nvSpPr>
          <p:cNvPr id="35" name="TextBox 35"/>
          <p:cNvSpPr txBox="1"/>
          <p:nvPr/>
        </p:nvSpPr>
        <p:spPr>
          <a:xfrm>
            <a:off x="14034821" y="5080357"/>
            <a:ext cx="3370935" cy="1372235"/>
          </a:xfrm>
          <a:prstGeom prst="rect">
            <a:avLst/>
          </a:prstGeom>
        </p:spPr>
        <p:txBody>
          <a:bodyPr lIns="0" tIns="0" rIns="0" bIns="0" rtlCol="0" anchor="t">
            <a:spAutoFit/>
          </a:bodyPr>
          <a:lstStyle/>
          <a:p>
            <a:pPr algn="l">
              <a:lnSpc>
                <a:spcPts val="3625"/>
              </a:lnSpc>
            </a:pPr>
            <a:r>
              <a:rPr lang="en-US" sz="2900">
                <a:solidFill>
                  <a:srgbClr val="FFFFFF"/>
                </a:solidFill>
                <a:latin typeface="Helvetica World"/>
                <a:ea typeface="Helvetica World"/>
                <a:cs typeface="Helvetica World"/>
                <a:sym typeface="Helvetica World"/>
              </a:rPr>
              <a:t>Gérer les petits datasets avec data augmentation</a:t>
            </a:r>
          </a:p>
        </p:txBody>
      </p:sp>
      <p:sp>
        <p:nvSpPr>
          <p:cNvPr id="36" name="TextBox 36"/>
          <p:cNvSpPr txBox="1"/>
          <p:nvPr/>
        </p:nvSpPr>
        <p:spPr>
          <a:xfrm>
            <a:off x="3265685" y="1846358"/>
            <a:ext cx="11756630" cy="958850"/>
          </a:xfrm>
          <a:prstGeom prst="rect">
            <a:avLst/>
          </a:prstGeom>
        </p:spPr>
        <p:txBody>
          <a:bodyPr lIns="0" tIns="0" rIns="0" bIns="0" rtlCol="0" anchor="t">
            <a:spAutoFit/>
          </a:bodyPr>
          <a:lstStyle/>
          <a:p>
            <a:pPr algn="l">
              <a:lnSpc>
                <a:spcPts val="6999"/>
              </a:lnSpc>
            </a:pPr>
            <a:r>
              <a:rPr lang="en-US" sz="6999" b="1" spc="209">
                <a:solidFill>
                  <a:srgbClr val="11680C"/>
                </a:solidFill>
                <a:latin typeface="Times New Roman Bold"/>
                <a:ea typeface="Times New Roman Bold"/>
                <a:cs typeface="Times New Roman Bold"/>
                <a:sym typeface="Times New Roman Bold"/>
              </a:rPr>
              <a:t>OBJECTIFS DU PROJET</a:t>
            </a:r>
          </a:p>
        </p:txBody>
      </p:sp>
      <p:sp>
        <p:nvSpPr>
          <p:cNvPr id="37" name="Freeform 37"/>
          <p:cNvSpPr/>
          <p:nvPr/>
        </p:nvSpPr>
        <p:spPr>
          <a:xfrm rot="5400000" flipV="1">
            <a:off x="15016527" y="-129140"/>
            <a:ext cx="3354051" cy="3354051"/>
          </a:xfrm>
          <a:custGeom>
            <a:avLst/>
            <a:gdLst/>
            <a:ahLst/>
            <a:cxnLst/>
            <a:rect l="l" t="t" r="r" b="b"/>
            <a:pathLst>
              <a:path w="3354051" h="3354051">
                <a:moveTo>
                  <a:pt x="0" y="3354051"/>
                </a:moveTo>
                <a:lnTo>
                  <a:pt x="3354051" y="3354051"/>
                </a:lnTo>
                <a:lnTo>
                  <a:pt x="3354051" y="0"/>
                </a:lnTo>
                <a:lnTo>
                  <a:pt x="0" y="0"/>
                </a:lnTo>
                <a:lnTo>
                  <a:pt x="0" y="3354051"/>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8" name="Freeform 38"/>
          <p:cNvSpPr/>
          <p:nvPr/>
        </p:nvSpPr>
        <p:spPr>
          <a:xfrm rot="-10800000" flipV="1">
            <a:off x="15016527" y="7257434"/>
            <a:ext cx="3354051" cy="3354051"/>
          </a:xfrm>
          <a:custGeom>
            <a:avLst/>
            <a:gdLst/>
            <a:ahLst/>
            <a:cxnLst/>
            <a:rect l="l" t="t" r="r" b="b"/>
            <a:pathLst>
              <a:path w="3354051" h="3354051">
                <a:moveTo>
                  <a:pt x="0" y="3354051"/>
                </a:moveTo>
                <a:lnTo>
                  <a:pt x="3354051" y="3354051"/>
                </a:lnTo>
                <a:lnTo>
                  <a:pt x="3354051" y="0"/>
                </a:lnTo>
                <a:lnTo>
                  <a:pt x="0" y="0"/>
                </a:lnTo>
                <a:lnTo>
                  <a:pt x="0" y="3354051"/>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887650" y="-790375"/>
            <a:ext cx="8740875" cy="8740875"/>
          </a:xfrm>
          <a:custGeom>
            <a:avLst/>
            <a:gdLst/>
            <a:ahLst/>
            <a:cxnLst/>
            <a:rect l="l" t="t" r="r" b="b"/>
            <a:pathLst>
              <a:path w="8740875" h="8740875">
                <a:moveTo>
                  <a:pt x="8740875" y="0"/>
                </a:moveTo>
                <a:lnTo>
                  <a:pt x="0" y="0"/>
                </a:lnTo>
                <a:lnTo>
                  <a:pt x="0" y="8740875"/>
                </a:lnTo>
                <a:lnTo>
                  <a:pt x="8740875" y="8740875"/>
                </a:lnTo>
                <a:lnTo>
                  <a:pt x="874087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340525" y="2336500"/>
            <a:ext cx="8740875" cy="8740875"/>
          </a:xfrm>
          <a:custGeom>
            <a:avLst/>
            <a:gdLst/>
            <a:ahLst/>
            <a:cxnLst/>
            <a:rect l="l" t="t" r="r" b="b"/>
            <a:pathLst>
              <a:path w="8740875" h="8740875">
                <a:moveTo>
                  <a:pt x="0" y="8740875"/>
                </a:moveTo>
                <a:lnTo>
                  <a:pt x="8740875" y="8740875"/>
                </a:lnTo>
                <a:lnTo>
                  <a:pt x="8740875" y="0"/>
                </a:lnTo>
                <a:lnTo>
                  <a:pt x="0" y="0"/>
                </a:lnTo>
                <a:lnTo>
                  <a:pt x="0" y="874087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4631013" y="683475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457813" y="-662557"/>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7348807" y="-1501802"/>
            <a:ext cx="486295" cy="4114800"/>
          </a:xfrm>
          <a:custGeom>
            <a:avLst/>
            <a:gdLst/>
            <a:ahLst/>
            <a:cxnLst/>
            <a:rect l="l" t="t" r="r" b="b"/>
            <a:pathLst>
              <a:path w="486295" h="4114800">
                <a:moveTo>
                  <a:pt x="0" y="0"/>
                </a:moveTo>
                <a:lnTo>
                  <a:pt x="486294" y="0"/>
                </a:lnTo>
                <a:lnTo>
                  <a:pt x="4862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flipV="1">
            <a:off x="10452899" y="7674002"/>
            <a:ext cx="486295" cy="4114800"/>
          </a:xfrm>
          <a:custGeom>
            <a:avLst/>
            <a:gdLst/>
            <a:ahLst/>
            <a:cxnLst/>
            <a:rect l="l" t="t" r="r" b="b"/>
            <a:pathLst>
              <a:path w="486295" h="4114800">
                <a:moveTo>
                  <a:pt x="0" y="4114800"/>
                </a:moveTo>
                <a:lnTo>
                  <a:pt x="486294" y="4114800"/>
                </a:lnTo>
                <a:lnTo>
                  <a:pt x="486294"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6908934" y="1394843"/>
            <a:ext cx="2708372" cy="270837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7163533" y="1914985"/>
            <a:ext cx="2199175" cy="1537259"/>
          </a:xfrm>
          <a:prstGeom prst="rect">
            <a:avLst/>
          </a:prstGeom>
        </p:spPr>
        <p:txBody>
          <a:bodyPr lIns="0" tIns="0" rIns="0" bIns="0" rtlCol="0" anchor="t">
            <a:spAutoFit/>
          </a:bodyPr>
          <a:lstStyle/>
          <a:p>
            <a:pPr algn="ctr">
              <a:lnSpc>
                <a:spcPts val="12533"/>
              </a:lnSpc>
            </a:pPr>
            <a:r>
              <a:rPr lang="en-US" sz="8952">
                <a:solidFill>
                  <a:srgbClr val="000000"/>
                </a:solidFill>
                <a:latin typeface="Helvetica World"/>
                <a:ea typeface="Helvetica World"/>
                <a:cs typeface="Helvetica World"/>
                <a:sym typeface="Helvetica World"/>
              </a:rPr>
              <a:t>2</a:t>
            </a:r>
          </a:p>
        </p:txBody>
      </p:sp>
      <p:sp>
        <p:nvSpPr>
          <p:cNvPr id="12" name="TextBox 12"/>
          <p:cNvSpPr txBox="1"/>
          <p:nvPr/>
        </p:nvSpPr>
        <p:spPr>
          <a:xfrm>
            <a:off x="355262" y="3912715"/>
            <a:ext cx="18014892" cy="1406584"/>
          </a:xfrm>
          <a:prstGeom prst="rect">
            <a:avLst/>
          </a:prstGeom>
        </p:spPr>
        <p:txBody>
          <a:bodyPr lIns="0" tIns="0" rIns="0" bIns="0" rtlCol="0" anchor="t">
            <a:spAutoFit/>
          </a:bodyPr>
          <a:lstStyle/>
          <a:p>
            <a:pPr algn="ctr">
              <a:lnSpc>
                <a:spcPts val="11200"/>
              </a:lnSpc>
              <a:spcBef>
                <a:spcPct val="0"/>
              </a:spcBef>
            </a:pPr>
            <a:r>
              <a:rPr lang="en-US" sz="8000" b="1">
                <a:solidFill>
                  <a:srgbClr val="11680C"/>
                </a:solidFill>
                <a:latin typeface="Times New Roman Bold"/>
                <a:ea typeface="Times New Roman Bold"/>
                <a:cs typeface="Times New Roman Bold"/>
                <a:sym typeface="Times New Roman Bold"/>
              </a:rPr>
              <a:t>Cœur Technique : LBP, PCA et SVM</a:t>
            </a:r>
          </a:p>
        </p:txBody>
      </p:sp>
      <p:sp>
        <p:nvSpPr>
          <p:cNvPr id="13" name="TextBox 13"/>
          <p:cNvSpPr txBox="1"/>
          <p:nvPr/>
        </p:nvSpPr>
        <p:spPr>
          <a:xfrm>
            <a:off x="3533434" y="5816158"/>
            <a:ext cx="9001660" cy="1863903"/>
          </a:xfrm>
          <a:prstGeom prst="rect">
            <a:avLst/>
          </a:prstGeom>
        </p:spPr>
        <p:txBody>
          <a:bodyPr lIns="0" tIns="0" rIns="0" bIns="0" rtlCol="0" anchor="t">
            <a:spAutoFit/>
          </a:bodyPr>
          <a:lstStyle/>
          <a:p>
            <a:pPr marL="755651" lvl="1" indent="-377825" algn="l">
              <a:lnSpc>
                <a:spcPts val="4900"/>
              </a:lnSpc>
              <a:buFont typeface="Arial"/>
              <a:buChar char="•"/>
            </a:pPr>
            <a:r>
              <a:rPr lang="en-US" sz="3500" b="1">
                <a:solidFill>
                  <a:srgbClr val="000000"/>
                </a:solidFill>
                <a:latin typeface="Times New Roman Bold"/>
                <a:ea typeface="Times New Roman Bold"/>
                <a:cs typeface="Times New Roman Bold"/>
                <a:sym typeface="Times New Roman Bold"/>
              </a:rPr>
              <a:t>LBP (Local Binary Patterns)</a:t>
            </a:r>
          </a:p>
          <a:p>
            <a:pPr marL="755651" lvl="1" indent="-377825" algn="l">
              <a:lnSpc>
                <a:spcPts val="4900"/>
              </a:lnSpc>
              <a:buFont typeface="Arial"/>
              <a:buChar char="•"/>
            </a:pPr>
            <a:r>
              <a:rPr lang="en-US" sz="3500" b="1">
                <a:solidFill>
                  <a:srgbClr val="000000"/>
                </a:solidFill>
                <a:latin typeface="Times New Roman Bold"/>
                <a:ea typeface="Times New Roman Bold"/>
                <a:cs typeface="Times New Roman Bold"/>
                <a:sym typeface="Times New Roman Bold"/>
              </a:rPr>
              <a:t>PCA (Analyse en Composantes Principales)</a:t>
            </a:r>
          </a:p>
          <a:p>
            <a:pPr marL="755651" lvl="1" indent="-377825" algn="l">
              <a:lnSpc>
                <a:spcPts val="4900"/>
              </a:lnSpc>
              <a:buFont typeface="Arial"/>
              <a:buChar char="•"/>
            </a:pPr>
            <a:r>
              <a:rPr lang="en-US" sz="3500" b="1">
                <a:solidFill>
                  <a:srgbClr val="000000"/>
                </a:solidFill>
                <a:latin typeface="Times New Roman Bold"/>
                <a:ea typeface="Times New Roman Bold"/>
                <a:cs typeface="Times New Roman Bold"/>
                <a:sym typeface="Times New Roman Bold"/>
              </a:rPr>
              <a:t>SVM (Support Vector Machine)</a:t>
            </a: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2699422" y="-546074"/>
            <a:ext cx="5914316" cy="5914316"/>
          </a:xfrm>
          <a:custGeom>
            <a:avLst/>
            <a:gdLst/>
            <a:ahLst/>
            <a:cxnLst/>
            <a:rect l="l" t="t" r="r" b="b"/>
            <a:pathLst>
              <a:path w="5914316" h="5914316">
                <a:moveTo>
                  <a:pt x="5914317" y="5914317"/>
                </a:moveTo>
                <a:lnTo>
                  <a:pt x="0" y="5914317"/>
                </a:lnTo>
                <a:lnTo>
                  <a:pt x="0" y="0"/>
                </a:lnTo>
                <a:lnTo>
                  <a:pt x="5914317" y="0"/>
                </a:lnTo>
                <a:lnTo>
                  <a:pt x="5914317" y="591431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10117466" y="-1272965"/>
            <a:ext cx="420186" cy="3555422"/>
          </a:xfrm>
          <a:custGeom>
            <a:avLst/>
            <a:gdLst/>
            <a:ahLst/>
            <a:cxnLst/>
            <a:rect l="l" t="t" r="r" b="b"/>
            <a:pathLst>
              <a:path w="420186" h="3555422">
                <a:moveTo>
                  <a:pt x="0" y="0"/>
                </a:moveTo>
                <a:lnTo>
                  <a:pt x="420187" y="0"/>
                </a:lnTo>
                <a:lnTo>
                  <a:pt x="420187" y="3555423"/>
                </a:lnTo>
                <a:lnTo>
                  <a:pt x="0" y="35554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flipV="1">
            <a:off x="2471798" y="8215320"/>
            <a:ext cx="420186" cy="3555422"/>
          </a:xfrm>
          <a:custGeom>
            <a:avLst/>
            <a:gdLst/>
            <a:ahLst/>
            <a:cxnLst/>
            <a:rect l="l" t="t" r="r" b="b"/>
            <a:pathLst>
              <a:path w="420186" h="3555422">
                <a:moveTo>
                  <a:pt x="0" y="3555423"/>
                </a:moveTo>
                <a:lnTo>
                  <a:pt x="420186" y="3555423"/>
                </a:lnTo>
                <a:lnTo>
                  <a:pt x="420186" y="0"/>
                </a:lnTo>
                <a:lnTo>
                  <a:pt x="0" y="0"/>
                </a:lnTo>
                <a:lnTo>
                  <a:pt x="0" y="3555423"/>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4926579" y="1962561"/>
            <a:ext cx="11866497" cy="1633969"/>
            <a:chOff x="0" y="0"/>
            <a:chExt cx="4291257" cy="590889"/>
          </a:xfrm>
        </p:grpSpPr>
        <p:sp>
          <p:nvSpPr>
            <p:cNvPr id="6" name="Freeform 6"/>
            <p:cNvSpPr/>
            <p:nvPr/>
          </p:nvSpPr>
          <p:spPr>
            <a:xfrm>
              <a:off x="0" y="0"/>
              <a:ext cx="4291257" cy="590889"/>
            </a:xfrm>
            <a:custGeom>
              <a:avLst/>
              <a:gdLst/>
              <a:ahLst/>
              <a:cxnLst/>
              <a:rect l="l" t="t" r="r" b="b"/>
              <a:pathLst>
                <a:path w="4291257" h="590889">
                  <a:moveTo>
                    <a:pt x="33273" y="0"/>
                  </a:moveTo>
                  <a:lnTo>
                    <a:pt x="4257984" y="0"/>
                  </a:lnTo>
                  <a:cubicBezTo>
                    <a:pt x="4276360" y="0"/>
                    <a:pt x="4291257" y="14897"/>
                    <a:pt x="4291257" y="33273"/>
                  </a:cubicBezTo>
                  <a:lnTo>
                    <a:pt x="4291257" y="557616"/>
                  </a:lnTo>
                  <a:cubicBezTo>
                    <a:pt x="4291257" y="566440"/>
                    <a:pt x="4287751" y="574903"/>
                    <a:pt x="4281512" y="581143"/>
                  </a:cubicBezTo>
                  <a:cubicBezTo>
                    <a:pt x="4275272" y="587383"/>
                    <a:pt x="4266809" y="590889"/>
                    <a:pt x="4257984" y="590889"/>
                  </a:cubicBezTo>
                  <a:lnTo>
                    <a:pt x="33273" y="590889"/>
                  </a:lnTo>
                  <a:cubicBezTo>
                    <a:pt x="14897" y="590889"/>
                    <a:pt x="0" y="575992"/>
                    <a:pt x="0" y="557616"/>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7" name="TextBox 7"/>
            <p:cNvSpPr txBox="1"/>
            <p:nvPr/>
          </p:nvSpPr>
          <p:spPr>
            <a:xfrm>
              <a:off x="0" y="-47625"/>
              <a:ext cx="4291257" cy="63851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926579" y="3774164"/>
            <a:ext cx="11866497" cy="1675826"/>
            <a:chOff x="0" y="0"/>
            <a:chExt cx="4291257" cy="606026"/>
          </a:xfrm>
        </p:grpSpPr>
        <p:sp>
          <p:nvSpPr>
            <p:cNvPr id="9" name="Freeform 9"/>
            <p:cNvSpPr/>
            <p:nvPr/>
          </p:nvSpPr>
          <p:spPr>
            <a:xfrm>
              <a:off x="0" y="0"/>
              <a:ext cx="4291257" cy="606026"/>
            </a:xfrm>
            <a:custGeom>
              <a:avLst/>
              <a:gdLst/>
              <a:ahLst/>
              <a:cxnLst/>
              <a:rect l="l" t="t" r="r" b="b"/>
              <a:pathLst>
                <a:path w="4291257" h="606026">
                  <a:moveTo>
                    <a:pt x="33273" y="0"/>
                  </a:moveTo>
                  <a:lnTo>
                    <a:pt x="4257984" y="0"/>
                  </a:lnTo>
                  <a:cubicBezTo>
                    <a:pt x="4276360" y="0"/>
                    <a:pt x="4291257" y="14897"/>
                    <a:pt x="4291257" y="33273"/>
                  </a:cubicBezTo>
                  <a:lnTo>
                    <a:pt x="4291257" y="572752"/>
                  </a:lnTo>
                  <a:cubicBezTo>
                    <a:pt x="4291257" y="581577"/>
                    <a:pt x="4287751" y="590040"/>
                    <a:pt x="4281512" y="596280"/>
                  </a:cubicBezTo>
                  <a:cubicBezTo>
                    <a:pt x="4275272" y="602520"/>
                    <a:pt x="4266809" y="606026"/>
                    <a:pt x="4257984" y="606026"/>
                  </a:cubicBezTo>
                  <a:lnTo>
                    <a:pt x="33273" y="606026"/>
                  </a:lnTo>
                  <a:cubicBezTo>
                    <a:pt x="24449" y="606026"/>
                    <a:pt x="15985" y="602520"/>
                    <a:pt x="9746" y="596280"/>
                  </a:cubicBezTo>
                  <a:cubicBezTo>
                    <a:pt x="3506" y="590040"/>
                    <a:pt x="0" y="581577"/>
                    <a:pt x="0" y="572752"/>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0" name="TextBox 10"/>
            <p:cNvSpPr txBox="1"/>
            <p:nvPr/>
          </p:nvSpPr>
          <p:spPr>
            <a:xfrm>
              <a:off x="0" y="-47625"/>
              <a:ext cx="4291257" cy="653651"/>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841944" y="2385435"/>
            <a:ext cx="10208907" cy="821571"/>
          </a:xfrm>
          <a:prstGeom prst="rect">
            <a:avLst/>
          </a:prstGeom>
        </p:spPr>
        <p:txBody>
          <a:bodyPr lIns="0" tIns="0" rIns="0" bIns="0" rtlCol="0" anchor="t">
            <a:spAutoFit/>
          </a:bodyPr>
          <a:lstStyle/>
          <a:p>
            <a:pPr algn="just">
              <a:lnSpc>
                <a:spcPts val="3250"/>
              </a:lnSpc>
            </a:pPr>
            <a:r>
              <a:rPr lang="en-US" sz="2600">
                <a:solidFill>
                  <a:srgbClr val="000000"/>
                </a:solidFill>
                <a:latin typeface="Helvetica World"/>
                <a:ea typeface="Helvetica World"/>
                <a:cs typeface="Helvetica World"/>
                <a:sym typeface="Helvetica World"/>
              </a:rPr>
              <a:t>Convertir l'image en une "empreinte numérique" décrivant la texture de l'écriture.</a:t>
            </a:r>
          </a:p>
        </p:txBody>
      </p:sp>
      <p:sp>
        <p:nvSpPr>
          <p:cNvPr id="12" name="TextBox 12"/>
          <p:cNvSpPr txBox="1"/>
          <p:nvPr/>
        </p:nvSpPr>
        <p:spPr>
          <a:xfrm>
            <a:off x="5755374" y="4040341"/>
            <a:ext cx="10208907" cy="821571"/>
          </a:xfrm>
          <a:prstGeom prst="rect">
            <a:avLst/>
          </a:prstGeom>
        </p:spPr>
        <p:txBody>
          <a:bodyPr lIns="0" tIns="0" rIns="0" bIns="0" rtlCol="0" anchor="t">
            <a:spAutoFit/>
          </a:bodyPr>
          <a:lstStyle/>
          <a:p>
            <a:pPr algn="just">
              <a:lnSpc>
                <a:spcPts val="3250"/>
              </a:lnSpc>
            </a:pPr>
            <a:r>
              <a:rPr lang="en-US" sz="2600">
                <a:solidFill>
                  <a:srgbClr val="000000"/>
                </a:solidFill>
                <a:latin typeface="Helvetica World"/>
                <a:ea typeface="Helvetica World"/>
                <a:cs typeface="Helvetica World"/>
                <a:sym typeface="Helvetica World"/>
              </a:rPr>
              <a:t>Comparaison de chaque pixel avec ses voisins (Radius=3, Points=24) pour générer un code binaire. </a:t>
            </a:r>
          </a:p>
        </p:txBody>
      </p:sp>
      <p:grpSp>
        <p:nvGrpSpPr>
          <p:cNvPr id="13" name="Group 13"/>
          <p:cNvGrpSpPr/>
          <p:nvPr/>
        </p:nvGrpSpPr>
        <p:grpSpPr>
          <a:xfrm>
            <a:off x="4926579" y="5714298"/>
            <a:ext cx="11866497" cy="1633969"/>
            <a:chOff x="0" y="0"/>
            <a:chExt cx="4291257" cy="590889"/>
          </a:xfrm>
        </p:grpSpPr>
        <p:sp>
          <p:nvSpPr>
            <p:cNvPr id="14" name="Freeform 14"/>
            <p:cNvSpPr/>
            <p:nvPr/>
          </p:nvSpPr>
          <p:spPr>
            <a:xfrm>
              <a:off x="0" y="0"/>
              <a:ext cx="4291257" cy="590889"/>
            </a:xfrm>
            <a:custGeom>
              <a:avLst/>
              <a:gdLst/>
              <a:ahLst/>
              <a:cxnLst/>
              <a:rect l="l" t="t" r="r" b="b"/>
              <a:pathLst>
                <a:path w="4291257" h="590889">
                  <a:moveTo>
                    <a:pt x="33273" y="0"/>
                  </a:moveTo>
                  <a:lnTo>
                    <a:pt x="4257984" y="0"/>
                  </a:lnTo>
                  <a:cubicBezTo>
                    <a:pt x="4276360" y="0"/>
                    <a:pt x="4291257" y="14897"/>
                    <a:pt x="4291257" y="33273"/>
                  </a:cubicBezTo>
                  <a:lnTo>
                    <a:pt x="4291257" y="557616"/>
                  </a:lnTo>
                  <a:cubicBezTo>
                    <a:pt x="4291257" y="566440"/>
                    <a:pt x="4287751" y="574903"/>
                    <a:pt x="4281512" y="581143"/>
                  </a:cubicBezTo>
                  <a:cubicBezTo>
                    <a:pt x="4275272" y="587383"/>
                    <a:pt x="4266809" y="590889"/>
                    <a:pt x="4257984" y="590889"/>
                  </a:cubicBezTo>
                  <a:lnTo>
                    <a:pt x="33273" y="590889"/>
                  </a:lnTo>
                  <a:cubicBezTo>
                    <a:pt x="14897" y="590889"/>
                    <a:pt x="0" y="575992"/>
                    <a:pt x="0" y="557616"/>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5" name="TextBox 15"/>
            <p:cNvSpPr txBox="1"/>
            <p:nvPr/>
          </p:nvSpPr>
          <p:spPr>
            <a:xfrm>
              <a:off x="0" y="-47625"/>
              <a:ext cx="4291257" cy="63851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926579" y="7767368"/>
            <a:ext cx="11866497" cy="1675826"/>
            <a:chOff x="0" y="0"/>
            <a:chExt cx="4291257" cy="606026"/>
          </a:xfrm>
        </p:grpSpPr>
        <p:sp>
          <p:nvSpPr>
            <p:cNvPr id="17" name="Freeform 17"/>
            <p:cNvSpPr/>
            <p:nvPr/>
          </p:nvSpPr>
          <p:spPr>
            <a:xfrm>
              <a:off x="0" y="0"/>
              <a:ext cx="4291257" cy="606026"/>
            </a:xfrm>
            <a:custGeom>
              <a:avLst/>
              <a:gdLst/>
              <a:ahLst/>
              <a:cxnLst/>
              <a:rect l="l" t="t" r="r" b="b"/>
              <a:pathLst>
                <a:path w="4291257" h="606026">
                  <a:moveTo>
                    <a:pt x="33273" y="0"/>
                  </a:moveTo>
                  <a:lnTo>
                    <a:pt x="4257984" y="0"/>
                  </a:lnTo>
                  <a:cubicBezTo>
                    <a:pt x="4276360" y="0"/>
                    <a:pt x="4291257" y="14897"/>
                    <a:pt x="4291257" y="33273"/>
                  </a:cubicBezTo>
                  <a:lnTo>
                    <a:pt x="4291257" y="572752"/>
                  </a:lnTo>
                  <a:cubicBezTo>
                    <a:pt x="4291257" y="581577"/>
                    <a:pt x="4287751" y="590040"/>
                    <a:pt x="4281512" y="596280"/>
                  </a:cubicBezTo>
                  <a:cubicBezTo>
                    <a:pt x="4275272" y="602520"/>
                    <a:pt x="4266809" y="606026"/>
                    <a:pt x="4257984" y="606026"/>
                  </a:cubicBezTo>
                  <a:lnTo>
                    <a:pt x="33273" y="606026"/>
                  </a:lnTo>
                  <a:cubicBezTo>
                    <a:pt x="24449" y="606026"/>
                    <a:pt x="15985" y="602520"/>
                    <a:pt x="9746" y="596280"/>
                  </a:cubicBezTo>
                  <a:cubicBezTo>
                    <a:pt x="3506" y="590040"/>
                    <a:pt x="0" y="581577"/>
                    <a:pt x="0" y="572752"/>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8" name="TextBox 18"/>
            <p:cNvSpPr txBox="1"/>
            <p:nvPr/>
          </p:nvSpPr>
          <p:spPr>
            <a:xfrm>
              <a:off x="0" y="-47625"/>
              <a:ext cx="4291257" cy="653651"/>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5755374" y="5945886"/>
            <a:ext cx="10208907" cy="821571"/>
          </a:xfrm>
          <a:prstGeom prst="rect">
            <a:avLst/>
          </a:prstGeom>
        </p:spPr>
        <p:txBody>
          <a:bodyPr lIns="0" tIns="0" rIns="0" bIns="0" rtlCol="0" anchor="t">
            <a:spAutoFit/>
          </a:bodyPr>
          <a:lstStyle/>
          <a:p>
            <a:pPr algn="l">
              <a:lnSpc>
                <a:spcPts val="3250"/>
              </a:lnSpc>
            </a:pPr>
            <a:r>
              <a:rPr lang="en-US" sz="2600">
                <a:solidFill>
                  <a:srgbClr val="000000"/>
                </a:solidFill>
                <a:latin typeface="Helvetica World"/>
                <a:ea typeface="Helvetica World"/>
                <a:cs typeface="Helvetica World"/>
                <a:sym typeface="Helvetica World"/>
              </a:rPr>
              <a:t>Un Histogramme qui capture les micro-traits et les inclinaisons propres à chaque écrivain.</a:t>
            </a:r>
          </a:p>
        </p:txBody>
      </p:sp>
      <p:sp>
        <p:nvSpPr>
          <p:cNvPr id="20" name="TextBox 20"/>
          <p:cNvSpPr txBox="1"/>
          <p:nvPr/>
        </p:nvSpPr>
        <p:spPr>
          <a:xfrm>
            <a:off x="5447674" y="8398831"/>
            <a:ext cx="10208907" cy="412055"/>
          </a:xfrm>
          <a:prstGeom prst="rect">
            <a:avLst/>
          </a:prstGeom>
        </p:spPr>
        <p:txBody>
          <a:bodyPr lIns="0" tIns="0" rIns="0" bIns="0" rtlCol="0" anchor="t">
            <a:spAutoFit/>
          </a:bodyPr>
          <a:lstStyle/>
          <a:p>
            <a:pPr algn="l">
              <a:lnSpc>
                <a:spcPts val="3250"/>
              </a:lnSpc>
            </a:pPr>
            <a:r>
              <a:rPr lang="en-US" sz="2600">
                <a:solidFill>
                  <a:srgbClr val="000000"/>
                </a:solidFill>
                <a:latin typeface="Helvetica World"/>
                <a:ea typeface="Helvetica World"/>
                <a:cs typeface="Helvetica World"/>
                <a:sym typeface="Helvetica World"/>
              </a:rPr>
              <a:t>Insensible aux variations de luminosité et de contraste.</a:t>
            </a:r>
          </a:p>
        </p:txBody>
      </p:sp>
      <p:sp>
        <p:nvSpPr>
          <p:cNvPr id="21" name="Freeform 21"/>
          <p:cNvSpPr/>
          <p:nvPr/>
        </p:nvSpPr>
        <p:spPr>
          <a:xfrm rot="-10800000">
            <a:off x="374486" y="5702878"/>
            <a:ext cx="420186" cy="3555422"/>
          </a:xfrm>
          <a:custGeom>
            <a:avLst/>
            <a:gdLst/>
            <a:ahLst/>
            <a:cxnLst/>
            <a:rect l="l" t="t" r="r" b="b"/>
            <a:pathLst>
              <a:path w="420186" h="3555422">
                <a:moveTo>
                  <a:pt x="0" y="0"/>
                </a:moveTo>
                <a:lnTo>
                  <a:pt x="420186" y="0"/>
                </a:lnTo>
                <a:lnTo>
                  <a:pt x="420186" y="3555422"/>
                </a:lnTo>
                <a:lnTo>
                  <a:pt x="0" y="35554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TextBox 22"/>
          <p:cNvSpPr txBox="1"/>
          <p:nvPr/>
        </p:nvSpPr>
        <p:spPr>
          <a:xfrm>
            <a:off x="348641" y="771990"/>
            <a:ext cx="15466348" cy="698500"/>
          </a:xfrm>
          <a:prstGeom prst="rect">
            <a:avLst/>
          </a:prstGeom>
        </p:spPr>
        <p:txBody>
          <a:bodyPr lIns="0" tIns="0" rIns="0" bIns="0" rtlCol="0" anchor="t">
            <a:spAutoFit/>
          </a:bodyPr>
          <a:lstStyle/>
          <a:p>
            <a:pPr algn="l">
              <a:lnSpc>
                <a:spcPts val="5000"/>
              </a:lnSpc>
            </a:pPr>
            <a:r>
              <a:rPr lang="en-US" sz="5000" b="1" spc="150">
                <a:solidFill>
                  <a:srgbClr val="11680C"/>
                </a:solidFill>
                <a:latin typeface="Times New Roman Bold"/>
                <a:ea typeface="Times New Roman Bold"/>
                <a:cs typeface="Times New Roman Bold"/>
                <a:sym typeface="Times New Roman Bold"/>
              </a:rPr>
              <a:t>LBP (LOCAL BINARY PATTERNS)</a:t>
            </a:r>
          </a:p>
        </p:txBody>
      </p:sp>
      <p:grpSp>
        <p:nvGrpSpPr>
          <p:cNvPr id="23" name="Group 23"/>
          <p:cNvGrpSpPr/>
          <p:nvPr/>
        </p:nvGrpSpPr>
        <p:grpSpPr>
          <a:xfrm rot="-5400000">
            <a:off x="1966563" y="6822113"/>
            <a:ext cx="1683217" cy="3558943"/>
            <a:chOff x="0" y="0"/>
            <a:chExt cx="832367" cy="1759931"/>
          </a:xfrm>
        </p:grpSpPr>
        <p:sp>
          <p:nvSpPr>
            <p:cNvPr id="24" name="Freeform 24"/>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25" name="TextBox 25"/>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5400000">
            <a:off x="1993103" y="4899937"/>
            <a:ext cx="1630138" cy="3558943"/>
            <a:chOff x="0" y="0"/>
            <a:chExt cx="806118" cy="1759931"/>
          </a:xfrm>
        </p:grpSpPr>
        <p:sp>
          <p:nvSpPr>
            <p:cNvPr id="27" name="Freeform 27"/>
            <p:cNvSpPr/>
            <p:nvPr/>
          </p:nvSpPr>
          <p:spPr>
            <a:xfrm>
              <a:off x="0" y="0"/>
              <a:ext cx="806118" cy="1759931"/>
            </a:xfrm>
            <a:custGeom>
              <a:avLst/>
              <a:gdLst/>
              <a:ahLst/>
              <a:cxnLst/>
              <a:rect l="l" t="t" r="r" b="b"/>
              <a:pathLst>
                <a:path w="806118" h="1759931">
                  <a:moveTo>
                    <a:pt x="242211" y="0"/>
                  </a:moveTo>
                  <a:lnTo>
                    <a:pt x="563907" y="0"/>
                  </a:lnTo>
                  <a:cubicBezTo>
                    <a:pt x="697677" y="0"/>
                    <a:pt x="806118" y="108442"/>
                    <a:pt x="806118" y="242211"/>
                  </a:cubicBezTo>
                  <a:lnTo>
                    <a:pt x="806118" y="1517719"/>
                  </a:lnTo>
                  <a:cubicBezTo>
                    <a:pt x="806118" y="1651489"/>
                    <a:pt x="697677" y="1759931"/>
                    <a:pt x="563907" y="1759931"/>
                  </a:cubicBezTo>
                  <a:lnTo>
                    <a:pt x="242211" y="1759931"/>
                  </a:lnTo>
                  <a:cubicBezTo>
                    <a:pt x="108442" y="1759931"/>
                    <a:pt x="0" y="1651489"/>
                    <a:pt x="0" y="1517719"/>
                  </a:cubicBezTo>
                  <a:lnTo>
                    <a:pt x="0" y="242211"/>
                  </a:lnTo>
                  <a:cubicBezTo>
                    <a:pt x="0" y="108442"/>
                    <a:pt x="108442" y="0"/>
                    <a:pt x="242211" y="0"/>
                  </a:cubicBezTo>
                  <a:close/>
                </a:path>
              </a:pathLst>
            </a:custGeom>
            <a:solidFill>
              <a:srgbClr val="11680C"/>
            </a:solidFill>
          </p:spPr>
        </p:sp>
        <p:sp>
          <p:nvSpPr>
            <p:cNvPr id="28" name="TextBox 28"/>
            <p:cNvSpPr txBox="1"/>
            <p:nvPr/>
          </p:nvSpPr>
          <p:spPr>
            <a:xfrm>
              <a:off x="0" y="-47625"/>
              <a:ext cx="806118" cy="1807556"/>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5400000">
            <a:off x="1966563" y="2924681"/>
            <a:ext cx="1683217" cy="3558943"/>
            <a:chOff x="0" y="0"/>
            <a:chExt cx="832367" cy="1759931"/>
          </a:xfrm>
        </p:grpSpPr>
        <p:sp>
          <p:nvSpPr>
            <p:cNvPr id="30" name="Freeform 30"/>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31" name="TextBox 31"/>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5400000">
            <a:off x="1966563" y="1024698"/>
            <a:ext cx="1683217" cy="3558943"/>
            <a:chOff x="0" y="0"/>
            <a:chExt cx="832367" cy="1759931"/>
          </a:xfrm>
        </p:grpSpPr>
        <p:sp>
          <p:nvSpPr>
            <p:cNvPr id="33" name="Freeform 33"/>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34" name="TextBox 34"/>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2220420" y="2252536"/>
            <a:ext cx="1175504"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Rôle</a:t>
            </a:r>
          </a:p>
        </p:txBody>
      </p:sp>
      <p:sp>
        <p:nvSpPr>
          <p:cNvPr id="36" name="TextBox 36"/>
          <p:cNvSpPr txBox="1"/>
          <p:nvPr/>
        </p:nvSpPr>
        <p:spPr>
          <a:xfrm>
            <a:off x="1028700" y="4191845"/>
            <a:ext cx="3558943"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Mécanisme</a:t>
            </a:r>
          </a:p>
        </p:txBody>
      </p:sp>
      <p:sp>
        <p:nvSpPr>
          <p:cNvPr id="37" name="TextBox 37"/>
          <p:cNvSpPr txBox="1"/>
          <p:nvPr/>
        </p:nvSpPr>
        <p:spPr>
          <a:xfrm>
            <a:off x="1377284" y="6148924"/>
            <a:ext cx="2861776"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Résultat</a:t>
            </a:r>
          </a:p>
        </p:txBody>
      </p:sp>
      <p:sp>
        <p:nvSpPr>
          <p:cNvPr id="38" name="TextBox 38"/>
          <p:cNvSpPr txBox="1"/>
          <p:nvPr/>
        </p:nvSpPr>
        <p:spPr>
          <a:xfrm>
            <a:off x="1167139" y="8100444"/>
            <a:ext cx="3282065"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Avantage</a:t>
            </a:r>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2699422" y="-546074"/>
            <a:ext cx="5914316" cy="5914316"/>
          </a:xfrm>
          <a:custGeom>
            <a:avLst/>
            <a:gdLst/>
            <a:ahLst/>
            <a:cxnLst/>
            <a:rect l="l" t="t" r="r" b="b"/>
            <a:pathLst>
              <a:path w="5914316" h="5914316">
                <a:moveTo>
                  <a:pt x="5914317" y="5914317"/>
                </a:moveTo>
                <a:lnTo>
                  <a:pt x="0" y="5914317"/>
                </a:lnTo>
                <a:lnTo>
                  <a:pt x="0" y="0"/>
                </a:lnTo>
                <a:lnTo>
                  <a:pt x="5914317" y="0"/>
                </a:lnTo>
                <a:lnTo>
                  <a:pt x="5914317" y="591431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10117466" y="-1272965"/>
            <a:ext cx="420186" cy="3555422"/>
          </a:xfrm>
          <a:custGeom>
            <a:avLst/>
            <a:gdLst/>
            <a:ahLst/>
            <a:cxnLst/>
            <a:rect l="l" t="t" r="r" b="b"/>
            <a:pathLst>
              <a:path w="420186" h="3555422">
                <a:moveTo>
                  <a:pt x="0" y="0"/>
                </a:moveTo>
                <a:lnTo>
                  <a:pt x="420187" y="0"/>
                </a:lnTo>
                <a:lnTo>
                  <a:pt x="420187" y="3555423"/>
                </a:lnTo>
                <a:lnTo>
                  <a:pt x="0" y="35554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flipV="1">
            <a:off x="2471798" y="8215320"/>
            <a:ext cx="420186" cy="3555422"/>
          </a:xfrm>
          <a:custGeom>
            <a:avLst/>
            <a:gdLst/>
            <a:ahLst/>
            <a:cxnLst/>
            <a:rect l="l" t="t" r="r" b="b"/>
            <a:pathLst>
              <a:path w="420186" h="3555422">
                <a:moveTo>
                  <a:pt x="0" y="3555423"/>
                </a:moveTo>
                <a:lnTo>
                  <a:pt x="420186" y="3555423"/>
                </a:lnTo>
                <a:lnTo>
                  <a:pt x="420186" y="0"/>
                </a:lnTo>
                <a:lnTo>
                  <a:pt x="0" y="0"/>
                </a:lnTo>
                <a:lnTo>
                  <a:pt x="0" y="3555423"/>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4926579" y="1962561"/>
            <a:ext cx="11866497" cy="1633969"/>
            <a:chOff x="0" y="0"/>
            <a:chExt cx="4291257" cy="590889"/>
          </a:xfrm>
        </p:grpSpPr>
        <p:sp>
          <p:nvSpPr>
            <p:cNvPr id="6" name="Freeform 6"/>
            <p:cNvSpPr/>
            <p:nvPr/>
          </p:nvSpPr>
          <p:spPr>
            <a:xfrm>
              <a:off x="0" y="0"/>
              <a:ext cx="4291257" cy="590889"/>
            </a:xfrm>
            <a:custGeom>
              <a:avLst/>
              <a:gdLst/>
              <a:ahLst/>
              <a:cxnLst/>
              <a:rect l="l" t="t" r="r" b="b"/>
              <a:pathLst>
                <a:path w="4291257" h="590889">
                  <a:moveTo>
                    <a:pt x="33273" y="0"/>
                  </a:moveTo>
                  <a:lnTo>
                    <a:pt x="4257984" y="0"/>
                  </a:lnTo>
                  <a:cubicBezTo>
                    <a:pt x="4276360" y="0"/>
                    <a:pt x="4291257" y="14897"/>
                    <a:pt x="4291257" y="33273"/>
                  </a:cubicBezTo>
                  <a:lnTo>
                    <a:pt x="4291257" y="557616"/>
                  </a:lnTo>
                  <a:cubicBezTo>
                    <a:pt x="4291257" y="566440"/>
                    <a:pt x="4287751" y="574903"/>
                    <a:pt x="4281512" y="581143"/>
                  </a:cubicBezTo>
                  <a:cubicBezTo>
                    <a:pt x="4275272" y="587383"/>
                    <a:pt x="4266809" y="590889"/>
                    <a:pt x="4257984" y="590889"/>
                  </a:cubicBezTo>
                  <a:lnTo>
                    <a:pt x="33273" y="590889"/>
                  </a:lnTo>
                  <a:cubicBezTo>
                    <a:pt x="14897" y="590889"/>
                    <a:pt x="0" y="575992"/>
                    <a:pt x="0" y="557616"/>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7" name="TextBox 7"/>
            <p:cNvSpPr txBox="1"/>
            <p:nvPr/>
          </p:nvSpPr>
          <p:spPr>
            <a:xfrm>
              <a:off x="0" y="-47625"/>
              <a:ext cx="4291257" cy="63851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926579" y="3774164"/>
            <a:ext cx="11866497" cy="1675826"/>
            <a:chOff x="0" y="0"/>
            <a:chExt cx="4291257" cy="606026"/>
          </a:xfrm>
        </p:grpSpPr>
        <p:sp>
          <p:nvSpPr>
            <p:cNvPr id="9" name="Freeform 9"/>
            <p:cNvSpPr/>
            <p:nvPr/>
          </p:nvSpPr>
          <p:spPr>
            <a:xfrm>
              <a:off x="0" y="0"/>
              <a:ext cx="4291257" cy="606026"/>
            </a:xfrm>
            <a:custGeom>
              <a:avLst/>
              <a:gdLst/>
              <a:ahLst/>
              <a:cxnLst/>
              <a:rect l="l" t="t" r="r" b="b"/>
              <a:pathLst>
                <a:path w="4291257" h="606026">
                  <a:moveTo>
                    <a:pt x="33273" y="0"/>
                  </a:moveTo>
                  <a:lnTo>
                    <a:pt x="4257984" y="0"/>
                  </a:lnTo>
                  <a:cubicBezTo>
                    <a:pt x="4276360" y="0"/>
                    <a:pt x="4291257" y="14897"/>
                    <a:pt x="4291257" y="33273"/>
                  </a:cubicBezTo>
                  <a:lnTo>
                    <a:pt x="4291257" y="572752"/>
                  </a:lnTo>
                  <a:cubicBezTo>
                    <a:pt x="4291257" y="581577"/>
                    <a:pt x="4287751" y="590040"/>
                    <a:pt x="4281512" y="596280"/>
                  </a:cubicBezTo>
                  <a:cubicBezTo>
                    <a:pt x="4275272" y="602520"/>
                    <a:pt x="4266809" y="606026"/>
                    <a:pt x="4257984" y="606026"/>
                  </a:cubicBezTo>
                  <a:lnTo>
                    <a:pt x="33273" y="606026"/>
                  </a:lnTo>
                  <a:cubicBezTo>
                    <a:pt x="24449" y="606026"/>
                    <a:pt x="15985" y="602520"/>
                    <a:pt x="9746" y="596280"/>
                  </a:cubicBezTo>
                  <a:cubicBezTo>
                    <a:pt x="3506" y="590040"/>
                    <a:pt x="0" y="581577"/>
                    <a:pt x="0" y="572752"/>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0" name="TextBox 10"/>
            <p:cNvSpPr txBox="1"/>
            <p:nvPr/>
          </p:nvSpPr>
          <p:spPr>
            <a:xfrm>
              <a:off x="0" y="-47625"/>
              <a:ext cx="4291257" cy="653651"/>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841944" y="2385435"/>
            <a:ext cx="10208907" cy="821571"/>
          </a:xfrm>
          <a:prstGeom prst="rect">
            <a:avLst/>
          </a:prstGeom>
        </p:spPr>
        <p:txBody>
          <a:bodyPr lIns="0" tIns="0" rIns="0" bIns="0" rtlCol="0" anchor="t">
            <a:spAutoFit/>
          </a:bodyPr>
          <a:lstStyle/>
          <a:p>
            <a:pPr algn="just">
              <a:lnSpc>
                <a:spcPts val="3250"/>
              </a:lnSpc>
            </a:pPr>
            <a:r>
              <a:rPr lang="en-US" sz="2600">
                <a:solidFill>
                  <a:srgbClr val="000000"/>
                </a:solidFill>
                <a:latin typeface="Helvetica World"/>
                <a:ea typeface="Helvetica World"/>
                <a:cs typeface="Helvetica World"/>
                <a:sym typeface="Helvetica World"/>
              </a:rPr>
              <a:t>Réduire la complexité des données sans perdre l'information essentielle.</a:t>
            </a:r>
          </a:p>
        </p:txBody>
      </p:sp>
      <p:sp>
        <p:nvSpPr>
          <p:cNvPr id="12" name="TextBox 12"/>
          <p:cNvSpPr txBox="1"/>
          <p:nvPr/>
        </p:nvSpPr>
        <p:spPr>
          <a:xfrm>
            <a:off x="5755374" y="4040341"/>
            <a:ext cx="10208907" cy="412055"/>
          </a:xfrm>
          <a:prstGeom prst="rect">
            <a:avLst/>
          </a:prstGeom>
        </p:spPr>
        <p:txBody>
          <a:bodyPr lIns="0" tIns="0" rIns="0" bIns="0" rtlCol="0" anchor="t">
            <a:spAutoFit/>
          </a:bodyPr>
          <a:lstStyle/>
          <a:p>
            <a:pPr algn="just">
              <a:lnSpc>
                <a:spcPts val="3250"/>
              </a:lnSpc>
            </a:pPr>
            <a:r>
              <a:rPr lang="en-US" sz="2600">
                <a:solidFill>
                  <a:srgbClr val="000000"/>
                </a:solidFill>
                <a:latin typeface="Helvetica World"/>
                <a:ea typeface="Helvetica World"/>
                <a:cs typeface="Helvetica World"/>
                <a:sym typeface="Helvetica World"/>
              </a:rPr>
              <a:t>Compression du vecteur LBP (de 416 à 50 dimensions).</a:t>
            </a:r>
          </a:p>
        </p:txBody>
      </p:sp>
      <p:grpSp>
        <p:nvGrpSpPr>
          <p:cNvPr id="13" name="Group 13"/>
          <p:cNvGrpSpPr/>
          <p:nvPr/>
        </p:nvGrpSpPr>
        <p:grpSpPr>
          <a:xfrm>
            <a:off x="4926579" y="5714298"/>
            <a:ext cx="11866497" cy="1633969"/>
            <a:chOff x="0" y="0"/>
            <a:chExt cx="4291257" cy="590889"/>
          </a:xfrm>
        </p:grpSpPr>
        <p:sp>
          <p:nvSpPr>
            <p:cNvPr id="14" name="Freeform 14"/>
            <p:cNvSpPr/>
            <p:nvPr/>
          </p:nvSpPr>
          <p:spPr>
            <a:xfrm>
              <a:off x="0" y="0"/>
              <a:ext cx="4291257" cy="590889"/>
            </a:xfrm>
            <a:custGeom>
              <a:avLst/>
              <a:gdLst/>
              <a:ahLst/>
              <a:cxnLst/>
              <a:rect l="l" t="t" r="r" b="b"/>
              <a:pathLst>
                <a:path w="4291257" h="590889">
                  <a:moveTo>
                    <a:pt x="33273" y="0"/>
                  </a:moveTo>
                  <a:lnTo>
                    <a:pt x="4257984" y="0"/>
                  </a:lnTo>
                  <a:cubicBezTo>
                    <a:pt x="4276360" y="0"/>
                    <a:pt x="4291257" y="14897"/>
                    <a:pt x="4291257" y="33273"/>
                  </a:cubicBezTo>
                  <a:lnTo>
                    <a:pt x="4291257" y="557616"/>
                  </a:lnTo>
                  <a:cubicBezTo>
                    <a:pt x="4291257" y="566440"/>
                    <a:pt x="4287751" y="574903"/>
                    <a:pt x="4281512" y="581143"/>
                  </a:cubicBezTo>
                  <a:cubicBezTo>
                    <a:pt x="4275272" y="587383"/>
                    <a:pt x="4266809" y="590889"/>
                    <a:pt x="4257984" y="590889"/>
                  </a:cubicBezTo>
                  <a:lnTo>
                    <a:pt x="33273" y="590889"/>
                  </a:lnTo>
                  <a:cubicBezTo>
                    <a:pt x="14897" y="590889"/>
                    <a:pt x="0" y="575992"/>
                    <a:pt x="0" y="557616"/>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5" name="TextBox 15"/>
            <p:cNvSpPr txBox="1"/>
            <p:nvPr/>
          </p:nvSpPr>
          <p:spPr>
            <a:xfrm>
              <a:off x="0" y="-47625"/>
              <a:ext cx="4291257" cy="63851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926579" y="7767368"/>
            <a:ext cx="11866497" cy="1675826"/>
            <a:chOff x="0" y="0"/>
            <a:chExt cx="4291257" cy="606026"/>
          </a:xfrm>
        </p:grpSpPr>
        <p:sp>
          <p:nvSpPr>
            <p:cNvPr id="17" name="Freeform 17"/>
            <p:cNvSpPr/>
            <p:nvPr/>
          </p:nvSpPr>
          <p:spPr>
            <a:xfrm>
              <a:off x="0" y="0"/>
              <a:ext cx="4291257" cy="606026"/>
            </a:xfrm>
            <a:custGeom>
              <a:avLst/>
              <a:gdLst/>
              <a:ahLst/>
              <a:cxnLst/>
              <a:rect l="l" t="t" r="r" b="b"/>
              <a:pathLst>
                <a:path w="4291257" h="606026">
                  <a:moveTo>
                    <a:pt x="33273" y="0"/>
                  </a:moveTo>
                  <a:lnTo>
                    <a:pt x="4257984" y="0"/>
                  </a:lnTo>
                  <a:cubicBezTo>
                    <a:pt x="4276360" y="0"/>
                    <a:pt x="4291257" y="14897"/>
                    <a:pt x="4291257" y="33273"/>
                  </a:cubicBezTo>
                  <a:lnTo>
                    <a:pt x="4291257" y="572752"/>
                  </a:lnTo>
                  <a:cubicBezTo>
                    <a:pt x="4291257" y="581577"/>
                    <a:pt x="4287751" y="590040"/>
                    <a:pt x="4281512" y="596280"/>
                  </a:cubicBezTo>
                  <a:cubicBezTo>
                    <a:pt x="4275272" y="602520"/>
                    <a:pt x="4266809" y="606026"/>
                    <a:pt x="4257984" y="606026"/>
                  </a:cubicBezTo>
                  <a:lnTo>
                    <a:pt x="33273" y="606026"/>
                  </a:lnTo>
                  <a:cubicBezTo>
                    <a:pt x="24449" y="606026"/>
                    <a:pt x="15985" y="602520"/>
                    <a:pt x="9746" y="596280"/>
                  </a:cubicBezTo>
                  <a:cubicBezTo>
                    <a:pt x="3506" y="590040"/>
                    <a:pt x="0" y="581577"/>
                    <a:pt x="0" y="572752"/>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8" name="TextBox 18"/>
            <p:cNvSpPr txBox="1"/>
            <p:nvPr/>
          </p:nvSpPr>
          <p:spPr>
            <a:xfrm>
              <a:off x="0" y="-47625"/>
              <a:ext cx="4291257" cy="653651"/>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5755374" y="5945886"/>
            <a:ext cx="10208907" cy="412055"/>
          </a:xfrm>
          <a:prstGeom prst="rect">
            <a:avLst/>
          </a:prstGeom>
        </p:spPr>
        <p:txBody>
          <a:bodyPr lIns="0" tIns="0" rIns="0" bIns="0" rtlCol="0" anchor="t">
            <a:spAutoFit/>
          </a:bodyPr>
          <a:lstStyle/>
          <a:p>
            <a:pPr algn="l">
              <a:lnSpc>
                <a:spcPts val="3250"/>
              </a:lnSpc>
            </a:pPr>
            <a:r>
              <a:rPr lang="en-US" sz="2600">
                <a:solidFill>
                  <a:srgbClr val="000000"/>
                </a:solidFill>
                <a:latin typeface="Helvetica World"/>
                <a:ea typeface="Helvetica World"/>
                <a:cs typeface="Helvetica World"/>
                <a:sym typeface="Helvetica World"/>
              </a:rPr>
              <a:t>Élimination du bruit et des données redondantes</a:t>
            </a:r>
          </a:p>
        </p:txBody>
      </p:sp>
      <p:sp>
        <p:nvSpPr>
          <p:cNvPr id="20" name="TextBox 20"/>
          <p:cNvSpPr txBox="1"/>
          <p:nvPr/>
        </p:nvSpPr>
        <p:spPr>
          <a:xfrm>
            <a:off x="5447674" y="8398831"/>
            <a:ext cx="10208907" cy="412055"/>
          </a:xfrm>
          <a:prstGeom prst="rect">
            <a:avLst/>
          </a:prstGeom>
        </p:spPr>
        <p:txBody>
          <a:bodyPr lIns="0" tIns="0" rIns="0" bIns="0" rtlCol="0" anchor="t">
            <a:spAutoFit/>
          </a:bodyPr>
          <a:lstStyle/>
          <a:p>
            <a:pPr algn="l">
              <a:lnSpc>
                <a:spcPts val="3250"/>
              </a:lnSpc>
            </a:pPr>
            <a:r>
              <a:rPr lang="en-US" sz="2600">
                <a:solidFill>
                  <a:srgbClr val="000000"/>
                </a:solidFill>
                <a:latin typeface="Helvetica World"/>
                <a:ea typeface="Helvetica World"/>
                <a:cs typeface="Helvetica World"/>
                <a:sym typeface="Helvetica World"/>
              </a:rPr>
              <a:t>Accélère l'entraînement et prévient le Surapprentissage (Overfitting). </a:t>
            </a:r>
          </a:p>
        </p:txBody>
      </p:sp>
      <p:sp>
        <p:nvSpPr>
          <p:cNvPr id="21" name="Freeform 21"/>
          <p:cNvSpPr/>
          <p:nvPr/>
        </p:nvSpPr>
        <p:spPr>
          <a:xfrm rot="-10800000">
            <a:off x="374486" y="5702878"/>
            <a:ext cx="420186" cy="3555422"/>
          </a:xfrm>
          <a:custGeom>
            <a:avLst/>
            <a:gdLst/>
            <a:ahLst/>
            <a:cxnLst/>
            <a:rect l="l" t="t" r="r" b="b"/>
            <a:pathLst>
              <a:path w="420186" h="3555422">
                <a:moveTo>
                  <a:pt x="0" y="0"/>
                </a:moveTo>
                <a:lnTo>
                  <a:pt x="420186" y="0"/>
                </a:lnTo>
                <a:lnTo>
                  <a:pt x="420186" y="3555422"/>
                </a:lnTo>
                <a:lnTo>
                  <a:pt x="0" y="35554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TextBox 22"/>
          <p:cNvSpPr txBox="1"/>
          <p:nvPr/>
        </p:nvSpPr>
        <p:spPr>
          <a:xfrm>
            <a:off x="1167139" y="806241"/>
            <a:ext cx="16307881" cy="641201"/>
          </a:xfrm>
          <a:prstGeom prst="rect">
            <a:avLst/>
          </a:prstGeom>
        </p:spPr>
        <p:txBody>
          <a:bodyPr lIns="0" tIns="0" rIns="0" bIns="0" rtlCol="0" anchor="t">
            <a:spAutoFit/>
          </a:bodyPr>
          <a:lstStyle/>
          <a:p>
            <a:pPr algn="l">
              <a:lnSpc>
                <a:spcPts val="5000"/>
              </a:lnSpc>
            </a:pPr>
            <a:r>
              <a:rPr lang="en-US" sz="4400" b="1" spc="150" dirty="0">
                <a:solidFill>
                  <a:srgbClr val="11680C"/>
                </a:solidFill>
                <a:latin typeface="Times New Roman Bold"/>
                <a:ea typeface="Times New Roman Bold"/>
                <a:cs typeface="Times New Roman Bold"/>
                <a:sym typeface="Times New Roman Bold"/>
              </a:rPr>
              <a:t>PCA (ANALYSE EN COMPOSANTES PRINCIPALES)</a:t>
            </a:r>
          </a:p>
        </p:txBody>
      </p:sp>
      <p:grpSp>
        <p:nvGrpSpPr>
          <p:cNvPr id="23" name="Group 23"/>
          <p:cNvGrpSpPr/>
          <p:nvPr/>
        </p:nvGrpSpPr>
        <p:grpSpPr>
          <a:xfrm rot="-5400000">
            <a:off x="1966563" y="6822113"/>
            <a:ext cx="1683217" cy="3558943"/>
            <a:chOff x="0" y="0"/>
            <a:chExt cx="832367" cy="1759931"/>
          </a:xfrm>
        </p:grpSpPr>
        <p:sp>
          <p:nvSpPr>
            <p:cNvPr id="24" name="Freeform 24"/>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25" name="TextBox 25"/>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5400000">
            <a:off x="1993103" y="4899937"/>
            <a:ext cx="1630138" cy="3558943"/>
            <a:chOff x="0" y="0"/>
            <a:chExt cx="806118" cy="1759931"/>
          </a:xfrm>
        </p:grpSpPr>
        <p:sp>
          <p:nvSpPr>
            <p:cNvPr id="27" name="Freeform 27"/>
            <p:cNvSpPr/>
            <p:nvPr/>
          </p:nvSpPr>
          <p:spPr>
            <a:xfrm>
              <a:off x="0" y="0"/>
              <a:ext cx="806118" cy="1759931"/>
            </a:xfrm>
            <a:custGeom>
              <a:avLst/>
              <a:gdLst/>
              <a:ahLst/>
              <a:cxnLst/>
              <a:rect l="l" t="t" r="r" b="b"/>
              <a:pathLst>
                <a:path w="806118" h="1759931">
                  <a:moveTo>
                    <a:pt x="242211" y="0"/>
                  </a:moveTo>
                  <a:lnTo>
                    <a:pt x="563907" y="0"/>
                  </a:lnTo>
                  <a:cubicBezTo>
                    <a:pt x="697677" y="0"/>
                    <a:pt x="806118" y="108442"/>
                    <a:pt x="806118" y="242211"/>
                  </a:cubicBezTo>
                  <a:lnTo>
                    <a:pt x="806118" y="1517719"/>
                  </a:lnTo>
                  <a:cubicBezTo>
                    <a:pt x="806118" y="1651489"/>
                    <a:pt x="697677" y="1759931"/>
                    <a:pt x="563907" y="1759931"/>
                  </a:cubicBezTo>
                  <a:lnTo>
                    <a:pt x="242211" y="1759931"/>
                  </a:lnTo>
                  <a:cubicBezTo>
                    <a:pt x="108442" y="1759931"/>
                    <a:pt x="0" y="1651489"/>
                    <a:pt x="0" y="1517719"/>
                  </a:cubicBezTo>
                  <a:lnTo>
                    <a:pt x="0" y="242211"/>
                  </a:lnTo>
                  <a:cubicBezTo>
                    <a:pt x="0" y="108442"/>
                    <a:pt x="108442" y="0"/>
                    <a:pt x="242211" y="0"/>
                  </a:cubicBezTo>
                  <a:close/>
                </a:path>
              </a:pathLst>
            </a:custGeom>
            <a:solidFill>
              <a:srgbClr val="11680C"/>
            </a:solidFill>
          </p:spPr>
        </p:sp>
        <p:sp>
          <p:nvSpPr>
            <p:cNvPr id="28" name="TextBox 28"/>
            <p:cNvSpPr txBox="1"/>
            <p:nvPr/>
          </p:nvSpPr>
          <p:spPr>
            <a:xfrm>
              <a:off x="0" y="-47625"/>
              <a:ext cx="806118" cy="1807556"/>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5400000">
            <a:off x="1966563" y="2924681"/>
            <a:ext cx="1683217" cy="3558943"/>
            <a:chOff x="0" y="0"/>
            <a:chExt cx="832367" cy="1759931"/>
          </a:xfrm>
        </p:grpSpPr>
        <p:sp>
          <p:nvSpPr>
            <p:cNvPr id="30" name="Freeform 30"/>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31" name="TextBox 31"/>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5400000">
            <a:off x="1966563" y="1024698"/>
            <a:ext cx="1683217" cy="3558943"/>
            <a:chOff x="0" y="0"/>
            <a:chExt cx="832367" cy="1759931"/>
          </a:xfrm>
        </p:grpSpPr>
        <p:sp>
          <p:nvSpPr>
            <p:cNvPr id="33" name="Freeform 33"/>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34" name="TextBox 34"/>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2220420" y="2252536"/>
            <a:ext cx="1175504"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Rôle</a:t>
            </a:r>
          </a:p>
        </p:txBody>
      </p:sp>
      <p:sp>
        <p:nvSpPr>
          <p:cNvPr id="36" name="TextBox 36"/>
          <p:cNvSpPr txBox="1"/>
          <p:nvPr/>
        </p:nvSpPr>
        <p:spPr>
          <a:xfrm>
            <a:off x="1028700" y="4191845"/>
            <a:ext cx="3558943"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Mécanisme</a:t>
            </a:r>
          </a:p>
        </p:txBody>
      </p:sp>
      <p:sp>
        <p:nvSpPr>
          <p:cNvPr id="37" name="TextBox 37"/>
          <p:cNvSpPr txBox="1"/>
          <p:nvPr/>
        </p:nvSpPr>
        <p:spPr>
          <a:xfrm>
            <a:off x="1377284" y="6148924"/>
            <a:ext cx="2861776"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Résultat</a:t>
            </a:r>
          </a:p>
        </p:txBody>
      </p:sp>
      <p:sp>
        <p:nvSpPr>
          <p:cNvPr id="38" name="TextBox 38"/>
          <p:cNvSpPr txBox="1"/>
          <p:nvPr/>
        </p:nvSpPr>
        <p:spPr>
          <a:xfrm>
            <a:off x="1167139" y="8100444"/>
            <a:ext cx="3282065"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Avantage</a:t>
            </a:r>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2699422" y="-546074"/>
            <a:ext cx="5914316" cy="5914316"/>
          </a:xfrm>
          <a:custGeom>
            <a:avLst/>
            <a:gdLst/>
            <a:ahLst/>
            <a:cxnLst/>
            <a:rect l="l" t="t" r="r" b="b"/>
            <a:pathLst>
              <a:path w="5914316" h="5914316">
                <a:moveTo>
                  <a:pt x="5914317" y="5914317"/>
                </a:moveTo>
                <a:lnTo>
                  <a:pt x="0" y="5914317"/>
                </a:lnTo>
                <a:lnTo>
                  <a:pt x="0" y="0"/>
                </a:lnTo>
                <a:lnTo>
                  <a:pt x="5914317" y="0"/>
                </a:lnTo>
                <a:lnTo>
                  <a:pt x="5914317" y="5914317"/>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a:off x="10117466" y="-1272965"/>
            <a:ext cx="420186" cy="3555422"/>
          </a:xfrm>
          <a:custGeom>
            <a:avLst/>
            <a:gdLst/>
            <a:ahLst/>
            <a:cxnLst/>
            <a:rect l="l" t="t" r="r" b="b"/>
            <a:pathLst>
              <a:path w="420186" h="3555422">
                <a:moveTo>
                  <a:pt x="0" y="0"/>
                </a:moveTo>
                <a:lnTo>
                  <a:pt x="420187" y="0"/>
                </a:lnTo>
                <a:lnTo>
                  <a:pt x="420187" y="3555423"/>
                </a:lnTo>
                <a:lnTo>
                  <a:pt x="0" y="35554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flipV="1">
            <a:off x="2471798" y="8215320"/>
            <a:ext cx="420186" cy="3555422"/>
          </a:xfrm>
          <a:custGeom>
            <a:avLst/>
            <a:gdLst/>
            <a:ahLst/>
            <a:cxnLst/>
            <a:rect l="l" t="t" r="r" b="b"/>
            <a:pathLst>
              <a:path w="420186" h="3555422">
                <a:moveTo>
                  <a:pt x="0" y="3555423"/>
                </a:moveTo>
                <a:lnTo>
                  <a:pt x="420186" y="3555423"/>
                </a:lnTo>
                <a:lnTo>
                  <a:pt x="420186" y="0"/>
                </a:lnTo>
                <a:lnTo>
                  <a:pt x="0" y="0"/>
                </a:lnTo>
                <a:lnTo>
                  <a:pt x="0" y="3555423"/>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4926579" y="1962561"/>
            <a:ext cx="11866497" cy="1633969"/>
            <a:chOff x="0" y="0"/>
            <a:chExt cx="4291257" cy="590889"/>
          </a:xfrm>
        </p:grpSpPr>
        <p:sp>
          <p:nvSpPr>
            <p:cNvPr id="6" name="Freeform 6"/>
            <p:cNvSpPr/>
            <p:nvPr/>
          </p:nvSpPr>
          <p:spPr>
            <a:xfrm>
              <a:off x="0" y="0"/>
              <a:ext cx="4291257" cy="590889"/>
            </a:xfrm>
            <a:custGeom>
              <a:avLst/>
              <a:gdLst/>
              <a:ahLst/>
              <a:cxnLst/>
              <a:rect l="l" t="t" r="r" b="b"/>
              <a:pathLst>
                <a:path w="4291257" h="590889">
                  <a:moveTo>
                    <a:pt x="33273" y="0"/>
                  </a:moveTo>
                  <a:lnTo>
                    <a:pt x="4257984" y="0"/>
                  </a:lnTo>
                  <a:cubicBezTo>
                    <a:pt x="4276360" y="0"/>
                    <a:pt x="4291257" y="14897"/>
                    <a:pt x="4291257" y="33273"/>
                  </a:cubicBezTo>
                  <a:lnTo>
                    <a:pt x="4291257" y="557616"/>
                  </a:lnTo>
                  <a:cubicBezTo>
                    <a:pt x="4291257" y="566440"/>
                    <a:pt x="4287751" y="574903"/>
                    <a:pt x="4281512" y="581143"/>
                  </a:cubicBezTo>
                  <a:cubicBezTo>
                    <a:pt x="4275272" y="587383"/>
                    <a:pt x="4266809" y="590889"/>
                    <a:pt x="4257984" y="590889"/>
                  </a:cubicBezTo>
                  <a:lnTo>
                    <a:pt x="33273" y="590889"/>
                  </a:lnTo>
                  <a:cubicBezTo>
                    <a:pt x="14897" y="590889"/>
                    <a:pt x="0" y="575992"/>
                    <a:pt x="0" y="557616"/>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7" name="TextBox 7"/>
            <p:cNvSpPr txBox="1"/>
            <p:nvPr/>
          </p:nvSpPr>
          <p:spPr>
            <a:xfrm>
              <a:off x="0" y="-47625"/>
              <a:ext cx="4291257" cy="63851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926579" y="3774164"/>
            <a:ext cx="11866497" cy="1675826"/>
            <a:chOff x="0" y="0"/>
            <a:chExt cx="4291257" cy="606026"/>
          </a:xfrm>
        </p:grpSpPr>
        <p:sp>
          <p:nvSpPr>
            <p:cNvPr id="9" name="Freeform 9"/>
            <p:cNvSpPr/>
            <p:nvPr/>
          </p:nvSpPr>
          <p:spPr>
            <a:xfrm>
              <a:off x="0" y="0"/>
              <a:ext cx="4291257" cy="606026"/>
            </a:xfrm>
            <a:custGeom>
              <a:avLst/>
              <a:gdLst/>
              <a:ahLst/>
              <a:cxnLst/>
              <a:rect l="l" t="t" r="r" b="b"/>
              <a:pathLst>
                <a:path w="4291257" h="606026">
                  <a:moveTo>
                    <a:pt x="33273" y="0"/>
                  </a:moveTo>
                  <a:lnTo>
                    <a:pt x="4257984" y="0"/>
                  </a:lnTo>
                  <a:cubicBezTo>
                    <a:pt x="4276360" y="0"/>
                    <a:pt x="4291257" y="14897"/>
                    <a:pt x="4291257" y="33273"/>
                  </a:cubicBezTo>
                  <a:lnTo>
                    <a:pt x="4291257" y="572752"/>
                  </a:lnTo>
                  <a:cubicBezTo>
                    <a:pt x="4291257" y="581577"/>
                    <a:pt x="4287751" y="590040"/>
                    <a:pt x="4281512" y="596280"/>
                  </a:cubicBezTo>
                  <a:cubicBezTo>
                    <a:pt x="4275272" y="602520"/>
                    <a:pt x="4266809" y="606026"/>
                    <a:pt x="4257984" y="606026"/>
                  </a:cubicBezTo>
                  <a:lnTo>
                    <a:pt x="33273" y="606026"/>
                  </a:lnTo>
                  <a:cubicBezTo>
                    <a:pt x="24449" y="606026"/>
                    <a:pt x="15985" y="602520"/>
                    <a:pt x="9746" y="596280"/>
                  </a:cubicBezTo>
                  <a:cubicBezTo>
                    <a:pt x="3506" y="590040"/>
                    <a:pt x="0" y="581577"/>
                    <a:pt x="0" y="572752"/>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0" name="TextBox 10"/>
            <p:cNvSpPr txBox="1"/>
            <p:nvPr/>
          </p:nvSpPr>
          <p:spPr>
            <a:xfrm>
              <a:off x="0" y="-47625"/>
              <a:ext cx="4291257" cy="653651"/>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841944" y="2385435"/>
            <a:ext cx="10208907" cy="412055"/>
          </a:xfrm>
          <a:prstGeom prst="rect">
            <a:avLst/>
          </a:prstGeom>
        </p:spPr>
        <p:txBody>
          <a:bodyPr lIns="0" tIns="0" rIns="0" bIns="0" rtlCol="0" anchor="t">
            <a:spAutoFit/>
          </a:bodyPr>
          <a:lstStyle/>
          <a:p>
            <a:pPr algn="just">
              <a:lnSpc>
                <a:spcPts val="3250"/>
              </a:lnSpc>
            </a:pPr>
            <a:r>
              <a:rPr lang="en-US" sz="2600">
                <a:solidFill>
                  <a:srgbClr val="000000"/>
                </a:solidFill>
                <a:latin typeface="Helvetica World"/>
                <a:ea typeface="Helvetica World"/>
                <a:cs typeface="Helvetica World"/>
                <a:sym typeface="Helvetica World"/>
              </a:rPr>
              <a:t>Le "cerveau" qui apprend à distinguer et classer les écrivains.</a:t>
            </a:r>
          </a:p>
        </p:txBody>
      </p:sp>
      <p:sp>
        <p:nvSpPr>
          <p:cNvPr id="12" name="TextBox 12"/>
          <p:cNvSpPr txBox="1"/>
          <p:nvPr/>
        </p:nvSpPr>
        <p:spPr>
          <a:xfrm>
            <a:off x="5755374" y="4040341"/>
            <a:ext cx="10208907" cy="821571"/>
          </a:xfrm>
          <a:prstGeom prst="rect">
            <a:avLst/>
          </a:prstGeom>
        </p:spPr>
        <p:txBody>
          <a:bodyPr lIns="0" tIns="0" rIns="0" bIns="0" rtlCol="0" anchor="t">
            <a:spAutoFit/>
          </a:bodyPr>
          <a:lstStyle/>
          <a:p>
            <a:pPr algn="just">
              <a:lnSpc>
                <a:spcPts val="3250"/>
              </a:lnSpc>
            </a:pPr>
            <a:r>
              <a:rPr lang="en-US" sz="2600">
                <a:solidFill>
                  <a:srgbClr val="000000"/>
                </a:solidFill>
                <a:latin typeface="Helvetica World"/>
                <a:ea typeface="Helvetica World"/>
                <a:cs typeface="Helvetica World"/>
                <a:sym typeface="Helvetica World"/>
              </a:rPr>
              <a:t> Construction d'un Hyperplan (frontière décisionnelle) optimal entre les classes.</a:t>
            </a:r>
          </a:p>
        </p:txBody>
      </p:sp>
      <p:grpSp>
        <p:nvGrpSpPr>
          <p:cNvPr id="13" name="Group 13"/>
          <p:cNvGrpSpPr/>
          <p:nvPr/>
        </p:nvGrpSpPr>
        <p:grpSpPr>
          <a:xfrm>
            <a:off x="4926579" y="5714298"/>
            <a:ext cx="11866497" cy="1633969"/>
            <a:chOff x="0" y="0"/>
            <a:chExt cx="4291257" cy="590889"/>
          </a:xfrm>
        </p:grpSpPr>
        <p:sp>
          <p:nvSpPr>
            <p:cNvPr id="14" name="Freeform 14"/>
            <p:cNvSpPr/>
            <p:nvPr/>
          </p:nvSpPr>
          <p:spPr>
            <a:xfrm>
              <a:off x="0" y="0"/>
              <a:ext cx="4291257" cy="590889"/>
            </a:xfrm>
            <a:custGeom>
              <a:avLst/>
              <a:gdLst/>
              <a:ahLst/>
              <a:cxnLst/>
              <a:rect l="l" t="t" r="r" b="b"/>
              <a:pathLst>
                <a:path w="4291257" h="590889">
                  <a:moveTo>
                    <a:pt x="33273" y="0"/>
                  </a:moveTo>
                  <a:lnTo>
                    <a:pt x="4257984" y="0"/>
                  </a:lnTo>
                  <a:cubicBezTo>
                    <a:pt x="4276360" y="0"/>
                    <a:pt x="4291257" y="14897"/>
                    <a:pt x="4291257" y="33273"/>
                  </a:cubicBezTo>
                  <a:lnTo>
                    <a:pt x="4291257" y="557616"/>
                  </a:lnTo>
                  <a:cubicBezTo>
                    <a:pt x="4291257" y="566440"/>
                    <a:pt x="4287751" y="574903"/>
                    <a:pt x="4281512" y="581143"/>
                  </a:cubicBezTo>
                  <a:cubicBezTo>
                    <a:pt x="4275272" y="587383"/>
                    <a:pt x="4266809" y="590889"/>
                    <a:pt x="4257984" y="590889"/>
                  </a:cubicBezTo>
                  <a:lnTo>
                    <a:pt x="33273" y="590889"/>
                  </a:lnTo>
                  <a:cubicBezTo>
                    <a:pt x="14897" y="590889"/>
                    <a:pt x="0" y="575992"/>
                    <a:pt x="0" y="557616"/>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5" name="TextBox 15"/>
            <p:cNvSpPr txBox="1"/>
            <p:nvPr/>
          </p:nvSpPr>
          <p:spPr>
            <a:xfrm>
              <a:off x="0" y="-47625"/>
              <a:ext cx="4291257" cy="638514"/>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4926579" y="7767368"/>
            <a:ext cx="11866497" cy="1675826"/>
            <a:chOff x="0" y="0"/>
            <a:chExt cx="4291257" cy="606026"/>
          </a:xfrm>
        </p:grpSpPr>
        <p:sp>
          <p:nvSpPr>
            <p:cNvPr id="17" name="Freeform 17"/>
            <p:cNvSpPr/>
            <p:nvPr/>
          </p:nvSpPr>
          <p:spPr>
            <a:xfrm>
              <a:off x="0" y="0"/>
              <a:ext cx="4291257" cy="606026"/>
            </a:xfrm>
            <a:custGeom>
              <a:avLst/>
              <a:gdLst/>
              <a:ahLst/>
              <a:cxnLst/>
              <a:rect l="l" t="t" r="r" b="b"/>
              <a:pathLst>
                <a:path w="4291257" h="606026">
                  <a:moveTo>
                    <a:pt x="33273" y="0"/>
                  </a:moveTo>
                  <a:lnTo>
                    <a:pt x="4257984" y="0"/>
                  </a:lnTo>
                  <a:cubicBezTo>
                    <a:pt x="4276360" y="0"/>
                    <a:pt x="4291257" y="14897"/>
                    <a:pt x="4291257" y="33273"/>
                  </a:cubicBezTo>
                  <a:lnTo>
                    <a:pt x="4291257" y="572752"/>
                  </a:lnTo>
                  <a:cubicBezTo>
                    <a:pt x="4291257" y="581577"/>
                    <a:pt x="4287751" y="590040"/>
                    <a:pt x="4281512" y="596280"/>
                  </a:cubicBezTo>
                  <a:cubicBezTo>
                    <a:pt x="4275272" y="602520"/>
                    <a:pt x="4266809" y="606026"/>
                    <a:pt x="4257984" y="606026"/>
                  </a:cubicBezTo>
                  <a:lnTo>
                    <a:pt x="33273" y="606026"/>
                  </a:lnTo>
                  <a:cubicBezTo>
                    <a:pt x="24449" y="606026"/>
                    <a:pt x="15985" y="602520"/>
                    <a:pt x="9746" y="596280"/>
                  </a:cubicBezTo>
                  <a:cubicBezTo>
                    <a:pt x="3506" y="590040"/>
                    <a:pt x="0" y="581577"/>
                    <a:pt x="0" y="572752"/>
                  </a:cubicBezTo>
                  <a:lnTo>
                    <a:pt x="0" y="33273"/>
                  </a:lnTo>
                  <a:cubicBezTo>
                    <a:pt x="0" y="24449"/>
                    <a:pt x="3506" y="15985"/>
                    <a:pt x="9746" y="9746"/>
                  </a:cubicBezTo>
                  <a:cubicBezTo>
                    <a:pt x="15985" y="3506"/>
                    <a:pt x="24449" y="0"/>
                    <a:pt x="33273" y="0"/>
                  </a:cubicBezTo>
                  <a:close/>
                </a:path>
              </a:pathLst>
            </a:custGeom>
            <a:solidFill>
              <a:srgbClr val="FBC613"/>
            </a:solidFill>
          </p:spPr>
        </p:sp>
        <p:sp>
          <p:nvSpPr>
            <p:cNvPr id="18" name="TextBox 18"/>
            <p:cNvSpPr txBox="1"/>
            <p:nvPr/>
          </p:nvSpPr>
          <p:spPr>
            <a:xfrm>
              <a:off x="0" y="-47625"/>
              <a:ext cx="4291257" cy="653651"/>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5755374" y="5945886"/>
            <a:ext cx="10208907" cy="412055"/>
          </a:xfrm>
          <a:prstGeom prst="rect">
            <a:avLst/>
          </a:prstGeom>
        </p:spPr>
        <p:txBody>
          <a:bodyPr lIns="0" tIns="0" rIns="0" bIns="0" rtlCol="0" anchor="t">
            <a:spAutoFit/>
          </a:bodyPr>
          <a:lstStyle/>
          <a:p>
            <a:pPr algn="l">
              <a:lnSpc>
                <a:spcPts val="3250"/>
              </a:lnSpc>
            </a:pPr>
            <a:r>
              <a:rPr lang="en-US" sz="2600">
                <a:solidFill>
                  <a:srgbClr val="000000"/>
                </a:solidFill>
                <a:latin typeface="Helvetica World"/>
                <a:ea typeface="Helvetica World"/>
                <a:cs typeface="Helvetica World"/>
                <a:sym typeface="Helvetica World"/>
              </a:rPr>
              <a:t>Une prédiction avec un score de Probabilité (ex: Amine 92%).</a:t>
            </a:r>
          </a:p>
        </p:txBody>
      </p:sp>
      <p:sp>
        <p:nvSpPr>
          <p:cNvPr id="20" name="TextBox 20"/>
          <p:cNvSpPr txBox="1"/>
          <p:nvPr/>
        </p:nvSpPr>
        <p:spPr>
          <a:xfrm>
            <a:off x="5447674" y="8398831"/>
            <a:ext cx="10208907" cy="412055"/>
          </a:xfrm>
          <a:prstGeom prst="rect">
            <a:avLst/>
          </a:prstGeom>
        </p:spPr>
        <p:txBody>
          <a:bodyPr lIns="0" tIns="0" rIns="0" bIns="0" rtlCol="0" anchor="t">
            <a:spAutoFit/>
          </a:bodyPr>
          <a:lstStyle/>
          <a:p>
            <a:pPr algn="l">
              <a:lnSpc>
                <a:spcPts val="3250"/>
              </a:lnSpc>
            </a:pPr>
            <a:r>
              <a:rPr lang="en-US" sz="2600">
                <a:solidFill>
                  <a:srgbClr val="000000"/>
                </a:solidFill>
                <a:latin typeface="Helvetica World"/>
                <a:ea typeface="Helvetica World"/>
                <a:cs typeface="Helvetica World"/>
                <a:sym typeface="Helvetica World"/>
              </a:rPr>
              <a:t>Très performant sur les petits jeux de données (Small Datasets).</a:t>
            </a:r>
          </a:p>
        </p:txBody>
      </p:sp>
      <p:sp>
        <p:nvSpPr>
          <p:cNvPr id="21" name="Freeform 21"/>
          <p:cNvSpPr/>
          <p:nvPr/>
        </p:nvSpPr>
        <p:spPr>
          <a:xfrm rot="-10800000">
            <a:off x="374486" y="5702878"/>
            <a:ext cx="420186" cy="3555422"/>
          </a:xfrm>
          <a:custGeom>
            <a:avLst/>
            <a:gdLst/>
            <a:ahLst/>
            <a:cxnLst/>
            <a:rect l="l" t="t" r="r" b="b"/>
            <a:pathLst>
              <a:path w="420186" h="3555422">
                <a:moveTo>
                  <a:pt x="0" y="0"/>
                </a:moveTo>
                <a:lnTo>
                  <a:pt x="420186" y="0"/>
                </a:lnTo>
                <a:lnTo>
                  <a:pt x="420186" y="3555422"/>
                </a:lnTo>
                <a:lnTo>
                  <a:pt x="0" y="35554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TextBox 22"/>
          <p:cNvSpPr txBox="1"/>
          <p:nvPr/>
        </p:nvSpPr>
        <p:spPr>
          <a:xfrm>
            <a:off x="1051598" y="866652"/>
            <a:ext cx="16444435" cy="698500"/>
          </a:xfrm>
          <a:prstGeom prst="rect">
            <a:avLst/>
          </a:prstGeom>
        </p:spPr>
        <p:txBody>
          <a:bodyPr lIns="0" tIns="0" rIns="0" bIns="0" rtlCol="0" anchor="t">
            <a:spAutoFit/>
          </a:bodyPr>
          <a:lstStyle/>
          <a:p>
            <a:pPr algn="l">
              <a:lnSpc>
                <a:spcPts val="5000"/>
              </a:lnSpc>
            </a:pPr>
            <a:r>
              <a:rPr lang="en-US" sz="5000" b="1" spc="150" dirty="0">
                <a:solidFill>
                  <a:srgbClr val="11680C"/>
                </a:solidFill>
                <a:latin typeface="Times New Roman Bold"/>
                <a:ea typeface="Times New Roman Bold"/>
                <a:cs typeface="Times New Roman Bold"/>
                <a:sym typeface="Times New Roman Bold"/>
              </a:rPr>
              <a:t>SVM (SUPPORT VECTOR MACHINE) </a:t>
            </a:r>
          </a:p>
        </p:txBody>
      </p:sp>
      <p:grpSp>
        <p:nvGrpSpPr>
          <p:cNvPr id="23" name="Group 23"/>
          <p:cNvGrpSpPr/>
          <p:nvPr/>
        </p:nvGrpSpPr>
        <p:grpSpPr>
          <a:xfrm rot="-5400000">
            <a:off x="1966563" y="6822113"/>
            <a:ext cx="1683217" cy="3558943"/>
            <a:chOff x="0" y="0"/>
            <a:chExt cx="832367" cy="1759931"/>
          </a:xfrm>
        </p:grpSpPr>
        <p:sp>
          <p:nvSpPr>
            <p:cNvPr id="24" name="Freeform 24"/>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25" name="TextBox 25"/>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5400000">
            <a:off x="1993103" y="4899937"/>
            <a:ext cx="1630138" cy="3558943"/>
            <a:chOff x="0" y="0"/>
            <a:chExt cx="806118" cy="1759931"/>
          </a:xfrm>
        </p:grpSpPr>
        <p:sp>
          <p:nvSpPr>
            <p:cNvPr id="27" name="Freeform 27"/>
            <p:cNvSpPr/>
            <p:nvPr/>
          </p:nvSpPr>
          <p:spPr>
            <a:xfrm>
              <a:off x="0" y="0"/>
              <a:ext cx="806118" cy="1759931"/>
            </a:xfrm>
            <a:custGeom>
              <a:avLst/>
              <a:gdLst/>
              <a:ahLst/>
              <a:cxnLst/>
              <a:rect l="l" t="t" r="r" b="b"/>
              <a:pathLst>
                <a:path w="806118" h="1759931">
                  <a:moveTo>
                    <a:pt x="242211" y="0"/>
                  </a:moveTo>
                  <a:lnTo>
                    <a:pt x="563907" y="0"/>
                  </a:lnTo>
                  <a:cubicBezTo>
                    <a:pt x="697677" y="0"/>
                    <a:pt x="806118" y="108442"/>
                    <a:pt x="806118" y="242211"/>
                  </a:cubicBezTo>
                  <a:lnTo>
                    <a:pt x="806118" y="1517719"/>
                  </a:lnTo>
                  <a:cubicBezTo>
                    <a:pt x="806118" y="1651489"/>
                    <a:pt x="697677" y="1759931"/>
                    <a:pt x="563907" y="1759931"/>
                  </a:cubicBezTo>
                  <a:lnTo>
                    <a:pt x="242211" y="1759931"/>
                  </a:lnTo>
                  <a:cubicBezTo>
                    <a:pt x="108442" y="1759931"/>
                    <a:pt x="0" y="1651489"/>
                    <a:pt x="0" y="1517719"/>
                  </a:cubicBezTo>
                  <a:lnTo>
                    <a:pt x="0" y="242211"/>
                  </a:lnTo>
                  <a:cubicBezTo>
                    <a:pt x="0" y="108442"/>
                    <a:pt x="108442" y="0"/>
                    <a:pt x="242211" y="0"/>
                  </a:cubicBezTo>
                  <a:close/>
                </a:path>
              </a:pathLst>
            </a:custGeom>
            <a:solidFill>
              <a:srgbClr val="11680C"/>
            </a:solidFill>
          </p:spPr>
        </p:sp>
        <p:sp>
          <p:nvSpPr>
            <p:cNvPr id="28" name="TextBox 28"/>
            <p:cNvSpPr txBox="1"/>
            <p:nvPr/>
          </p:nvSpPr>
          <p:spPr>
            <a:xfrm>
              <a:off x="0" y="-47625"/>
              <a:ext cx="806118" cy="1807556"/>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5400000">
            <a:off x="1966563" y="2924681"/>
            <a:ext cx="1683217" cy="3558943"/>
            <a:chOff x="0" y="0"/>
            <a:chExt cx="832367" cy="1759931"/>
          </a:xfrm>
        </p:grpSpPr>
        <p:sp>
          <p:nvSpPr>
            <p:cNvPr id="30" name="Freeform 30"/>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31" name="TextBox 31"/>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5400000">
            <a:off x="1966563" y="1024698"/>
            <a:ext cx="1683217" cy="3558943"/>
            <a:chOff x="0" y="0"/>
            <a:chExt cx="832367" cy="1759931"/>
          </a:xfrm>
        </p:grpSpPr>
        <p:sp>
          <p:nvSpPr>
            <p:cNvPr id="33" name="Freeform 33"/>
            <p:cNvSpPr/>
            <p:nvPr/>
          </p:nvSpPr>
          <p:spPr>
            <a:xfrm>
              <a:off x="0" y="0"/>
              <a:ext cx="832367" cy="1759931"/>
            </a:xfrm>
            <a:custGeom>
              <a:avLst/>
              <a:gdLst/>
              <a:ahLst/>
              <a:cxnLst/>
              <a:rect l="l" t="t" r="r" b="b"/>
              <a:pathLst>
                <a:path w="832367" h="1759931">
                  <a:moveTo>
                    <a:pt x="234573" y="0"/>
                  </a:moveTo>
                  <a:lnTo>
                    <a:pt x="597793" y="0"/>
                  </a:lnTo>
                  <a:cubicBezTo>
                    <a:pt x="660006" y="0"/>
                    <a:pt x="719671" y="24714"/>
                    <a:pt x="763662" y="68705"/>
                  </a:cubicBezTo>
                  <a:cubicBezTo>
                    <a:pt x="807653" y="112696"/>
                    <a:pt x="832367" y="172361"/>
                    <a:pt x="832367" y="234573"/>
                  </a:cubicBezTo>
                  <a:lnTo>
                    <a:pt x="832367" y="1525357"/>
                  </a:lnTo>
                  <a:cubicBezTo>
                    <a:pt x="832367" y="1587570"/>
                    <a:pt x="807653" y="1647235"/>
                    <a:pt x="763662" y="1691226"/>
                  </a:cubicBezTo>
                  <a:cubicBezTo>
                    <a:pt x="719671" y="1735217"/>
                    <a:pt x="660006" y="1759931"/>
                    <a:pt x="597793" y="1759931"/>
                  </a:cubicBezTo>
                  <a:lnTo>
                    <a:pt x="234573" y="1759931"/>
                  </a:lnTo>
                  <a:cubicBezTo>
                    <a:pt x="172361" y="1759931"/>
                    <a:pt x="112696" y="1735217"/>
                    <a:pt x="68705" y="1691226"/>
                  </a:cubicBezTo>
                  <a:cubicBezTo>
                    <a:pt x="24714" y="1647235"/>
                    <a:pt x="0" y="1587570"/>
                    <a:pt x="0" y="1525357"/>
                  </a:cubicBezTo>
                  <a:lnTo>
                    <a:pt x="0" y="234573"/>
                  </a:lnTo>
                  <a:cubicBezTo>
                    <a:pt x="0" y="172361"/>
                    <a:pt x="24714" y="112696"/>
                    <a:pt x="68705" y="68705"/>
                  </a:cubicBezTo>
                  <a:cubicBezTo>
                    <a:pt x="112696" y="24714"/>
                    <a:pt x="172361" y="0"/>
                    <a:pt x="234573" y="0"/>
                  </a:cubicBezTo>
                  <a:close/>
                </a:path>
              </a:pathLst>
            </a:custGeom>
            <a:solidFill>
              <a:srgbClr val="11680C"/>
            </a:solidFill>
          </p:spPr>
        </p:sp>
        <p:sp>
          <p:nvSpPr>
            <p:cNvPr id="34" name="TextBox 34"/>
            <p:cNvSpPr txBox="1"/>
            <p:nvPr/>
          </p:nvSpPr>
          <p:spPr>
            <a:xfrm>
              <a:off x="0" y="-47625"/>
              <a:ext cx="832367" cy="1807556"/>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2220420" y="2252536"/>
            <a:ext cx="1175504"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Rôle</a:t>
            </a:r>
          </a:p>
        </p:txBody>
      </p:sp>
      <p:sp>
        <p:nvSpPr>
          <p:cNvPr id="36" name="TextBox 36"/>
          <p:cNvSpPr txBox="1"/>
          <p:nvPr/>
        </p:nvSpPr>
        <p:spPr>
          <a:xfrm>
            <a:off x="1028700" y="4191845"/>
            <a:ext cx="3558943"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Mécanisme</a:t>
            </a:r>
          </a:p>
        </p:txBody>
      </p:sp>
      <p:sp>
        <p:nvSpPr>
          <p:cNvPr id="37" name="TextBox 37"/>
          <p:cNvSpPr txBox="1"/>
          <p:nvPr/>
        </p:nvSpPr>
        <p:spPr>
          <a:xfrm>
            <a:off x="1377284" y="6148924"/>
            <a:ext cx="2861776"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Résultat</a:t>
            </a:r>
          </a:p>
        </p:txBody>
      </p:sp>
      <p:sp>
        <p:nvSpPr>
          <p:cNvPr id="38" name="TextBox 38"/>
          <p:cNvSpPr txBox="1"/>
          <p:nvPr/>
        </p:nvSpPr>
        <p:spPr>
          <a:xfrm>
            <a:off x="1167139" y="8100444"/>
            <a:ext cx="3282065" cy="790575"/>
          </a:xfrm>
          <a:prstGeom prst="rect">
            <a:avLst/>
          </a:prstGeom>
        </p:spPr>
        <p:txBody>
          <a:bodyPr lIns="0" tIns="0" rIns="0" bIns="0" rtlCol="0" anchor="t">
            <a:spAutoFit/>
          </a:bodyPr>
          <a:lstStyle/>
          <a:p>
            <a:pPr algn="ctr">
              <a:lnSpc>
                <a:spcPts val="6299"/>
              </a:lnSpc>
              <a:spcBef>
                <a:spcPct val="0"/>
              </a:spcBef>
            </a:pPr>
            <a:r>
              <a:rPr lang="en-US" sz="4500">
                <a:solidFill>
                  <a:srgbClr val="FFFFFF"/>
                </a:solidFill>
                <a:latin typeface="Arimo"/>
                <a:ea typeface="Arimo"/>
                <a:cs typeface="Arimo"/>
                <a:sym typeface="Arimo"/>
              </a:rPr>
              <a:t>Avantage</a:t>
            </a:r>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887650" y="-790375"/>
            <a:ext cx="8740875" cy="8740875"/>
          </a:xfrm>
          <a:custGeom>
            <a:avLst/>
            <a:gdLst/>
            <a:ahLst/>
            <a:cxnLst/>
            <a:rect l="l" t="t" r="r" b="b"/>
            <a:pathLst>
              <a:path w="8740875" h="8740875">
                <a:moveTo>
                  <a:pt x="8740875" y="0"/>
                </a:moveTo>
                <a:lnTo>
                  <a:pt x="0" y="0"/>
                </a:lnTo>
                <a:lnTo>
                  <a:pt x="0" y="8740875"/>
                </a:lnTo>
                <a:lnTo>
                  <a:pt x="8740875" y="8740875"/>
                </a:lnTo>
                <a:lnTo>
                  <a:pt x="874087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340525" y="2336500"/>
            <a:ext cx="8740875" cy="8740875"/>
          </a:xfrm>
          <a:custGeom>
            <a:avLst/>
            <a:gdLst/>
            <a:ahLst/>
            <a:cxnLst/>
            <a:rect l="l" t="t" r="r" b="b"/>
            <a:pathLst>
              <a:path w="8740875" h="8740875">
                <a:moveTo>
                  <a:pt x="0" y="8740875"/>
                </a:moveTo>
                <a:lnTo>
                  <a:pt x="8740875" y="8740875"/>
                </a:lnTo>
                <a:lnTo>
                  <a:pt x="8740875" y="0"/>
                </a:lnTo>
                <a:lnTo>
                  <a:pt x="0" y="0"/>
                </a:lnTo>
                <a:lnTo>
                  <a:pt x="0" y="874087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4631013" y="683475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457813" y="-662557"/>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7348807" y="-1501802"/>
            <a:ext cx="486295" cy="4114800"/>
          </a:xfrm>
          <a:custGeom>
            <a:avLst/>
            <a:gdLst/>
            <a:ahLst/>
            <a:cxnLst/>
            <a:rect l="l" t="t" r="r" b="b"/>
            <a:pathLst>
              <a:path w="486295" h="4114800">
                <a:moveTo>
                  <a:pt x="0" y="0"/>
                </a:moveTo>
                <a:lnTo>
                  <a:pt x="486294" y="0"/>
                </a:lnTo>
                <a:lnTo>
                  <a:pt x="4862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flipV="1">
            <a:off x="10452899" y="7674002"/>
            <a:ext cx="486295" cy="4114800"/>
          </a:xfrm>
          <a:custGeom>
            <a:avLst/>
            <a:gdLst/>
            <a:ahLst/>
            <a:cxnLst/>
            <a:rect l="l" t="t" r="r" b="b"/>
            <a:pathLst>
              <a:path w="486295" h="4114800">
                <a:moveTo>
                  <a:pt x="0" y="4114800"/>
                </a:moveTo>
                <a:lnTo>
                  <a:pt x="486294" y="4114800"/>
                </a:lnTo>
                <a:lnTo>
                  <a:pt x="486294"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7193422" y="2722816"/>
            <a:ext cx="2708372" cy="270837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7448021" y="3242957"/>
            <a:ext cx="2199175" cy="1537259"/>
          </a:xfrm>
          <a:prstGeom prst="rect">
            <a:avLst/>
          </a:prstGeom>
        </p:spPr>
        <p:txBody>
          <a:bodyPr lIns="0" tIns="0" rIns="0" bIns="0" rtlCol="0" anchor="t">
            <a:spAutoFit/>
          </a:bodyPr>
          <a:lstStyle/>
          <a:p>
            <a:pPr algn="ctr">
              <a:lnSpc>
                <a:spcPts val="12533"/>
              </a:lnSpc>
            </a:pPr>
            <a:r>
              <a:rPr lang="en-US" sz="8952">
                <a:solidFill>
                  <a:srgbClr val="000000"/>
                </a:solidFill>
                <a:latin typeface="Helvetica World"/>
                <a:ea typeface="Helvetica World"/>
                <a:cs typeface="Helvetica World"/>
                <a:sym typeface="Helvetica World"/>
              </a:rPr>
              <a:t>3</a:t>
            </a:r>
          </a:p>
        </p:txBody>
      </p:sp>
      <p:sp>
        <p:nvSpPr>
          <p:cNvPr id="12" name="TextBox 12"/>
          <p:cNvSpPr txBox="1"/>
          <p:nvPr/>
        </p:nvSpPr>
        <p:spPr>
          <a:xfrm>
            <a:off x="2978513" y="5202588"/>
            <a:ext cx="12330974" cy="1632169"/>
          </a:xfrm>
          <a:prstGeom prst="rect">
            <a:avLst/>
          </a:prstGeom>
        </p:spPr>
        <p:txBody>
          <a:bodyPr lIns="0" tIns="0" rIns="0" bIns="0" rtlCol="0" anchor="t">
            <a:spAutoFit/>
          </a:bodyPr>
          <a:lstStyle/>
          <a:p>
            <a:pPr algn="ctr">
              <a:lnSpc>
                <a:spcPts val="12926"/>
              </a:lnSpc>
              <a:spcBef>
                <a:spcPct val="0"/>
              </a:spcBef>
            </a:pPr>
            <a:r>
              <a:rPr lang="en-US" sz="9233" b="1">
                <a:solidFill>
                  <a:srgbClr val="11680C"/>
                </a:solidFill>
                <a:latin typeface="Times New Roman Bold"/>
                <a:ea typeface="Times New Roman Bold"/>
                <a:cs typeface="Times New Roman Bold"/>
                <a:sym typeface="Times New Roman Bold"/>
              </a:rPr>
              <a:t>Architecture du Système</a:t>
            </a:r>
          </a:p>
        </p:txBody>
      </p:sp>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887650" y="-790375"/>
            <a:ext cx="8740875" cy="8740875"/>
          </a:xfrm>
          <a:custGeom>
            <a:avLst/>
            <a:gdLst/>
            <a:ahLst/>
            <a:cxnLst/>
            <a:rect l="l" t="t" r="r" b="b"/>
            <a:pathLst>
              <a:path w="8740875" h="8740875">
                <a:moveTo>
                  <a:pt x="8740875" y="0"/>
                </a:moveTo>
                <a:lnTo>
                  <a:pt x="0" y="0"/>
                </a:lnTo>
                <a:lnTo>
                  <a:pt x="0" y="8740875"/>
                </a:lnTo>
                <a:lnTo>
                  <a:pt x="8740875" y="8740875"/>
                </a:lnTo>
                <a:lnTo>
                  <a:pt x="874087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317766" y="2208681"/>
            <a:ext cx="8740875" cy="8740875"/>
          </a:xfrm>
          <a:custGeom>
            <a:avLst/>
            <a:gdLst/>
            <a:ahLst/>
            <a:cxnLst/>
            <a:rect l="l" t="t" r="r" b="b"/>
            <a:pathLst>
              <a:path w="8740875" h="8740875">
                <a:moveTo>
                  <a:pt x="0" y="8740876"/>
                </a:moveTo>
                <a:lnTo>
                  <a:pt x="8740875" y="8740876"/>
                </a:lnTo>
                <a:lnTo>
                  <a:pt x="8740875" y="0"/>
                </a:lnTo>
                <a:lnTo>
                  <a:pt x="0" y="0"/>
                </a:lnTo>
                <a:lnTo>
                  <a:pt x="0" y="874087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4631013" y="683475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457813" y="-662557"/>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7348807" y="-1501802"/>
            <a:ext cx="486295" cy="4114800"/>
          </a:xfrm>
          <a:custGeom>
            <a:avLst/>
            <a:gdLst/>
            <a:ahLst/>
            <a:cxnLst/>
            <a:rect l="l" t="t" r="r" b="b"/>
            <a:pathLst>
              <a:path w="486295" h="4114800">
                <a:moveTo>
                  <a:pt x="0" y="0"/>
                </a:moveTo>
                <a:lnTo>
                  <a:pt x="486294" y="0"/>
                </a:lnTo>
                <a:lnTo>
                  <a:pt x="4862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flipV="1">
            <a:off x="10452899" y="7674002"/>
            <a:ext cx="486295" cy="4114800"/>
          </a:xfrm>
          <a:custGeom>
            <a:avLst/>
            <a:gdLst/>
            <a:ahLst/>
            <a:cxnLst/>
            <a:rect l="l" t="t" r="r" b="b"/>
            <a:pathLst>
              <a:path w="486295" h="4114800">
                <a:moveTo>
                  <a:pt x="0" y="4114800"/>
                </a:moveTo>
                <a:lnTo>
                  <a:pt x="486294" y="4114800"/>
                </a:lnTo>
                <a:lnTo>
                  <a:pt x="486294"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459118" y="1702655"/>
            <a:ext cx="15369765" cy="6881689"/>
          </a:xfrm>
          <a:custGeom>
            <a:avLst/>
            <a:gdLst/>
            <a:ahLst/>
            <a:cxnLst/>
            <a:rect l="l" t="t" r="r" b="b"/>
            <a:pathLst>
              <a:path w="15369765" h="6881689">
                <a:moveTo>
                  <a:pt x="0" y="0"/>
                </a:moveTo>
                <a:lnTo>
                  <a:pt x="15369764" y="0"/>
                </a:lnTo>
                <a:lnTo>
                  <a:pt x="15369764" y="6881690"/>
                </a:lnTo>
                <a:lnTo>
                  <a:pt x="0" y="6881690"/>
                </a:lnTo>
                <a:lnTo>
                  <a:pt x="0" y="0"/>
                </a:lnTo>
                <a:close/>
              </a:path>
            </a:pathLst>
          </a:custGeom>
          <a:blipFill>
            <a:blip r:embed="rId8"/>
            <a:stretch>
              <a:fillRect l="-6181" t="-14742" r="-8770" b="-11380"/>
            </a:stretch>
          </a:blipFill>
        </p:spPr>
      </p:sp>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29844" y="-44582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4703044" y="6618024"/>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94314" y="6334015"/>
            <a:ext cx="4450389" cy="4450389"/>
          </a:xfrm>
          <a:custGeom>
            <a:avLst/>
            <a:gdLst/>
            <a:ahLst/>
            <a:cxnLst/>
            <a:rect l="l" t="t" r="r" b="b"/>
            <a:pathLst>
              <a:path w="4450389" h="4450389">
                <a:moveTo>
                  <a:pt x="0" y="0"/>
                </a:moveTo>
                <a:lnTo>
                  <a:pt x="4450389" y="0"/>
                </a:lnTo>
                <a:lnTo>
                  <a:pt x="4450389" y="4450389"/>
                </a:lnTo>
                <a:lnTo>
                  <a:pt x="0" y="44503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flipV="1">
            <a:off x="14066064" y="-529722"/>
            <a:ext cx="4450389" cy="4450389"/>
          </a:xfrm>
          <a:custGeom>
            <a:avLst/>
            <a:gdLst/>
            <a:ahLst/>
            <a:cxnLst/>
            <a:rect l="l" t="t" r="r" b="b"/>
            <a:pathLst>
              <a:path w="4450389" h="4450389">
                <a:moveTo>
                  <a:pt x="4450389" y="4450390"/>
                </a:moveTo>
                <a:lnTo>
                  <a:pt x="0" y="4450390"/>
                </a:lnTo>
                <a:lnTo>
                  <a:pt x="0" y="0"/>
                </a:lnTo>
                <a:lnTo>
                  <a:pt x="4450389" y="0"/>
                </a:lnTo>
                <a:lnTo>
                  <a:pt x="4450389" y="445039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485613" y="1463081"/>
            <a:ext cx="12789338" cy="958850"/>
          </a:xfrm>
          <a:prstGeom prst="rect">
            <a:avLst/>
          </a:prstGeom>
        </p:spPr>
        <p:txBody>
          <a:bodyPr lIns="0" tIns="0" rIns="0" bIns="0" rtlCol="0" anchor="t">
            <a:spAutoFit/>
          </a:bodyPr>
          <a:lstStyle/>
          <a:p>
            <a:pPr algn="l">
              <a:lnSpc>
                <a:spcPts val="6999"/>
              </a:lnSpc>
            </a:pPr>
            <a:r>
              <a:rPr lang="en-US" sz="6999" b="1" spc="209">
                <a:solidFill>
                  <a:srgbClr val="11680C"/>
                </a:solidFill>
                <a:latin typeface="Times New Roman Bold"/>
                <a:ea typeface="Times New Roman Bold"/>
                <a:cs typeface="Times New Roman Bold"/>
                <a:sym typeface="Times New Roman Bold"/>
              </a:rPr>
              <a:t>TECHNOLOGIES UTILISÉES</a:t>
            </a:r>
          </a:p>
        </p:txBody>
      </p:sp>
      <p:grpSp>
        <p:nvGrpSpPr>
          <p:cNvPr id="7" name="Group 7"/>
          <p:cNvGrpSpPr/>
          <p:nvPr/>
        </p:nvGrpSpPr>
        <p:grpSpPr>
          <a:xfrm>
            <a:off x="3197383" y="2821980"/>
            <a:ext cx="11434075" cy="928440"/>
            <a:chOff x="0" y="0"/>
            <a:chExt cx="4134881" cy="335750"/>
          </a:xfrm>
        </p:grpSpPr>
        <p:sp>
          <p:nvSpPr>
            <p:cNvPr id="8" name="Freeform 8"/>
            <p:cNvSpPr/>
            <p:nvPr/>
          </p:nvSpPr>
          <p:spPr>
            <a:xfrm>
              <a:off x="0" y="0"/>
              <a:ext cx="4134881" cy="335750"/>
            </a:xfrm>
            <a:custGeom>
              <a:avLst/>
              <a:gdLst/>
              <a:ahLst/>
              <a:cxnLst/>
              <a:rect l="l" t="t" r="r" b="b"/>
              <a:pathLst>
                <a:path w="4134881" h="335750">
                  <a:moveTo>
                    <a:pt x="34532" y="0"/>
                  </a:moveTo>
                  <a:lnTo>
                    <a:pt x="4100350" y="0"/>
                  </a:lnTo>
                  <a:cubicBezTo>
                    <a:pt x="4109508" y="0"/>
                    <a:pt x="4118291" y="3638"/>
                    <a:pt x="4124767" y="10114"/>
                  </a:cubicBezTo>
                  <a:cubicBezTo>
                    <a:pt x="4131243" y="16590"/>
                    <a:pt x="4134881" y="25373"/>
                    <a:pt x="4134881" y="34532"/>
                  </a:cubicBezTo>
                  <a:lnTo>
                    <a:pt x="4134881" y="301218"/>
                  </a:lnTo>
                  <a:cubicBezTo>
                    <a:pt x="4134881" y="320290"/>
                    <a:pt x="4119421" y="335750"/>
                    <a:pt x="4100350" y="335750"/>
                  </a:cubicBezTo>
                  <a:lnTo>
                    <a:pt x="34532" y="335750"/>
                  </a:lnTo>
                  <a:cubicBezTo>
                    <a:pt x="15460" y="335750"/>
                    <a:pt x="0" y="320290"/>
                    <a:pt x="0" y="301218"/>
                  </a:cubicBezTo>
                  <a:lnTo>
                    <a:pt x="0" y="34532"/>
                  </a:lnTo>
                  <a:cubicBezTo>
                    <a:pt x="0" y="15460"/>
                    <a:pt x="15460" y="0"/>
                    <a:pt x="34532" y="0"/>
                  </a:cubicBezTo>
                  <a:close/>
                </a:path>
              </a:pathLst>
            </a:custGeom>
            <a:solidFill>
              <a:srgbClr val="FBC613"/>
            </a:solidFill>
          </p:spPr>
        </p:sp>
        <p:sp>
          <p:nvSpPr>
            <p:cNvPr id="9" name="TextBox 9"/>
            <p:cNvSpPr txBox="1"/>
            <p:nvPr/>
          </p:nvSpPr>
          <p:spPr>
            <a:xfrm>
              <a:off x="0" y="-47625"/>
              <a:ext cx="4134881" cy="38337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3197383" y="4150470"/>
            <a:ext cx="11460143" cy="920169"/>
            <a:chOff x="0" y="0"/>
            <a:chExt cx="4144308" cy="332759"/>
          </a:xfrm>
        </p:grpSpPr>
        <p:sp>
          <p:nvSpPr>
            <p:cNvPr id="11" name="Freeform 11"/>
            <p:cNvSpPr/>
            <p:nvPr/>
          </p:nvSpPr>
          <p:spPr>
            <a:xfrm>
              <a:off x="0" y="0"/>
              <a:ext cx="4144308" cy="332759"/>
            </a:xfrm>
            <a:custGeom>
              <a:avLst/>
              <a:gdLst/>
              <a:ahLst/>
              <a:cxnLst/>
              <a:rect l="l" t="t" r="r" b="b"/>
              <a:pathLst>
                <a:path w="4144308" h="332759">
                  <a:moveTo>
                    <a:pt x="34453" y="0"/>
                  </a:moveTo>
                  <a:lnTo>
                    <a:pt x="4109855" y="0"/>
                  </a:lnTo>
                  <a:cubicBezTo>
                    <a:pt x="4128883" y="0"/>
                    <a:pt x="4144308" y="15425"/>
                    <a:pt x="4144308" y="34453"/>
                  </a:cubicBezTo>
                  <a:lnTo>
                    <a:pt x="4144308" y="298306"/>
                  </a:lnTo>
                  <a:cubicBezTo>
                    <a:pt x="4144308" y="317334"/>
                    <a:pt x="4128883" y="332759"/>
                    <a:pt x="4109855" y="332759"/>
                  </a:cubicBezTo>
                  <a:lnTo>
                    <a:pt x="34453" y="332759"/>
                  </a:lnTo>
                  <a:cubicBezTo>
                    <a:pt x="15425" y="332759"/>
                    <a:pt x="0" y="317334"/>
                    <a:pt x="0" y="298306"/>
                  </a:cubicBezTo>
                  <a:lnTo>
                    <a:pt x="0" y="34453"/>
                  </a:lnTo>
                  <a:cubicBezTo>
                    <a:pt x="0" y="15425"/>
                    <a:pt x="15425" y="0"/>
                    <a:pt x="34453" y="0"/>
                  </a:cubicBezTo>
                  <a:close/>
                </a:path>
              </a:pathLst>
            </a:custGeom>
            <a:solidFill>
              <a:srgbClr val="FBC613"/>
            </a:solidFill>
          </p:spPr>
        </p:sp>
        <p:sp>
          <p:nvSpPr>
            <p:cNvPr id="12" name="TextBox 12"/>
            <p:cNvSpPr txBox="1"/>
            <p:nvPr/>
          </p:nvSpPr>
          <p:spPr>
            <a:xfrm>
              <a:off x="0" y="-47625"/>
              <a:ext cx="4144308" cy="380384"/>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3721056" y="3071665"/>
            <a:ext cx="10208907" cy="412055"/>
          </a:xfrm>
          <a:prstGeom prst="rect">
            <a:avLst/>
          </a:prstGeom>
        </p:spPr>
        <p:txBody>
          <a:bodyPr lIns="0" tIns="0" rIns="0" bIns="0" rtlCol="0" anchor="t">
            <a:spAutoFit/>
          </a:bodyPr>
          <a:lstStyle/>
          <a:p>
            <a:pPr algn="just">
              <a:lnSpc>
                <a:spcPts val="3250"/>
              </a:lnSpc>
            </a:pPr>
            <a:r>
              <a:rPr lang="en-US" sz="2600">
                <a:solidFill>
                  <a:srgbClr val="000000"/>
                </a:solidFill>
                <a:latin typeface="Helvetica World"/>
                <a:ea typeface="Helvetica World"/>
                <a:cs typeface="Helvetica World"/>
                <a:sym typeface="Helvetica World"/>
              </a:rPr>
              <a:t>OpenCV : Traitement d'images</a:t>
            </a:r>
          </a:p>
        </p:txBody>
      </p:sp>
      <p:sp>
        <p:nvSpPr>
          <p:cNvPr id="14" name="TextBox 14"/>
          <p:cNvSpPr txBox="1"/>
          <p:nvPr/>
        </p:nvSpPr>
        <p:spPr>
          <a:xfrm>
            <a:off x="3706394" y="4395002"/>
            <a:ext cx="10208907" cy="412055"/>
          </a:xfrm>
          <a:prstGeom prst="rect">
            <a:avLst/>
          </a:prstGeom>
        </p:spPr>
        <p:txBody>
          <a:bodyPr lIns="0" tIns="0" rIns="0" bIns="0" rtlCol="0" anchor="t">
            <a:spAutoFit/>
          </a:bodyPr>
          <a:lstStyle/>
          <a:p>
            <a:pPr algn="just">
              <a:lnSpc>
                <a:spcPts val="3250"/>
              </a:lnSpc>
            </a:pPr>
            <a:r>
              <a:rPr lang="en-US" sz="2600">
                <a:solidFill>
                  <a:srgbClr val="000000"/>
                </a:solidFill>
                <a:latin typeface="Helvetica World"/>
                <a:ea typeface="Helvetica World"/>
                <a:cs typeface="Helvetica World"/>
                <a:sym typeface="Helvetica World"/>
              </a:rPr>
              <a:t>scikit-learn : Machine Learning (SVM, PCA, StandardScaler)</a:t>
            </a:r>
          </a:p>
        </p:txBody>
      </p:sp>
      <p:grpSp>
        <p:nvGrpSpPr>
          <p:cNvPr id="15" name="Group 15"/>
          <p:cNvGrpSpPr/>
          <p:nvPr/>
        </p:nvGrpSpPr>
        <p:grpSpPr>
          <a:xfrm>
            <a:off x="3197383" y="5470690"/>
            <a:ext cx="11365798" cy="917061"/>
            <a:chOff x="0" y="0"/>
            <a:chExt cx="4110190" cy="331635"/>
          </a:xfrm>
        </p:grpSpPr>
        <p:sp>
          <p:nvSpPr>
            <p:cNvPr id="16" name="Freeform 16"/>
            <p:cNvSpPr/>
            <p:nvPr/>
          </p:nvSpPr>
          <p:spPr>
            <a:xfrm>
              <a:off x="0" y="0"/>
              <a:ext cx="4110191" cy="331635"/>
            </a:xfrm>
            <a:custGeom>
              <a:avLst/>
              <a:gdLst/>
              <a:ahLst/>
              <a:cxnLst/>
              <a:rect l="l" t="t" r="r" b="b"/>
              <a:pathLst>
                <a:path w="4110191" h="331635">
                  <a:moveTo>
                    <a:pt x="34739" y="0"/>
                  </a:moveTo>
                  <a:lnTo>
                    <a:pt x="4075452" y="0"/>
                  </a:lnTo>
                  <a:cubicBezTo>
                    <a:pt x="4094637" y="0"/>
                    <a:pt x="4110191" y="15553"/>
                    <a:pt x="4110191" y="34739"/>
                  </a:cubicBezTo>
                  <a:lnTo>
                    <a:pt x="4110191" y="296896"/>
                  </a:lnTo>
                  <a:cubicBezTo>
                    <a:pt x="4110191" y="306109"/>
                    <a:pt x="4106531" y="314945"/>
                    <a:pt x="4100016" y="321460"/>
                  </a:cubicBezTo>
                  <a:cubicBezTo>
                    <a:pt x="4093501" y="327975"/>
                    <a:pt x="4084665" y="331635"/>
                    <a:pt x="4075452" y="331635"/>
                  </a:cubicBezTo>
                  <a:lnTo>
                    <a:pt x="34739" y="331635"/>
                  </a:lnTo>
                  <a:cubicBezTo>
                    <a:pt x="25526" y="331635"/>
                    <a:pt x="16690" y="327975"/>
                    <a:pt x="10175" y="321460"/>
                  </a:cubicBezTo>
                  <a:cubicBezTo>
                    <a:pt x="3660" y="314945"/>
                    <a:pt x="0" y="306109"/>
                    <a:pt x="0" y="296896"/>
                  </a:cubicBezTo>
                  <a:lnTo>
                    <a:pt x="0" y="34739"/>
                  </a:lnTo>
                  <a:cubicBezTo>
                    <a:pt x="0" y="25526"/>
                    <a:pt x="3660" y="16690"/>
                    <a:pt x="10175" y="10175"/>
                  </a:cubicBezTo>
                  <a:cubicBezTo>
                    <a:pt x="16690" y="3660"/>
                    <a:pt x="25526" y="0"/>
                    <a:pt x="34739" y="0"/>
                  </a:cubicBezTo>
                  <a:close/>
                </a:path>
              </a:pathLst>
            </a:custGeom>
            <a:solidFill>
              <a:srgbClr val="FBC613"/>
            </a:solidFill>
          </p:spPr>
        </p:sp>
        <p:sp>
          <p:nvSpPr>
            <p:cNvPr id="17" name="TextBox 17"/>
            <p:cNvSpPr txBox="1"/>
            <p:nvPr/>
          </p:nvSpPr>
          <p:spPr>
            <a:xfrm>
              <a:off x="0" y="-47625"/>
              <a:ext cx="4110190" cy="37926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3197383" y="6800596"/>
            <a:ext cx="11365798" cy="911992"/>
            <a:chOff x="0" y="0"/>
            <a:chExt cx="4180148" cy="335415"/>
          </a:xfrm>
        </p:grpSpPr>
        <p:sp>
          <p:nvSpPr>
            <p:cNvPr id="19" name="Freeform 19"/>
            <p:cNvSpPr/>
            <p:nvPr/>
          </p:nvSpPr>
          <p:spPr>
            <a:xfrm>
              <a:off x="0" y="0"/>
              <a:ext cx="4180148" cy="335415"/>
            </a:xfrm>
            <a:custGeom>
              <a:avLst/>
              <a:gdLst/>
              <a:ahLst/>
              <a:cxnLst/>
              <a:rect l="l" t="t" r="r" b="b"/>
              <a:pathLst>
                <a:path w="4180148" h="335415">
                  <a:moveTo>
                    <a:pt x="34739" y="0"/>
                  </a:moveTo>
                  <a:lnTo>
                    <a:pt x="4145409" y="0"/>
                  </a:lnTo>
                  <a:cubicBezTo>
                    <a:pt x="4154622" y="0"/>
                    <a:pt x="4163458" y="3660"/>
                    <a:pt x="4169973" y="10175"/>
                  </a:cubicBezTo>
                  <a:cubicBezTo>
                    <a:pt x="4176488" y="16690"/>
                    <a:pt x="4180148" y="25526"/>
                    <a:pt x="4180148" y="34739"/>
                  </a:cubicBezTo>
                  <a:lnTo>
                    <a:pt x="4180148" y="300676"/>
                  </a:lnTo>
                  <a:cubicBezTo>
                    <a:pt x="4180148" y="309889"/>
                    <a:pt x="4176488" y="318725"/>
                    <a:pt x="4169973" y="325240"/>
                  </a:cubicBezTo>
                  <a:cubicBezTo>
                    <a:pt x="4163458" y="331755"/>
                    <a:pt x="4154622" y="335415"/>
                    <a:pt x="4145409" y="335415"/>
                  </a:cubicBezTo>
                  <a:lnTo>
                    <a:pt x="34739" y="335415"/>
                  </a:lnTo>
                  <a:cubicBezTo>
                    <a:pt x="25526" y="335415"/>
                    <a:pt x="16690" y="331755"/>
                    <a:pt x="10175" y="325240"/>
                  </a:cubicBezTo>
                  <a:cubicBezTo>
                    <a:pt x="3660" y="318725"/>
                    <a:pt x="0" y="309889"/>
                    <a:pt x="0" y="300676"/>
                  </a:cubicBezTo>
                  <a:lnTo>
                    <a:pt x="0" y="34739"/>
                  </a:lnTo>
                  <a:cubicBezTo>
                    <a:pt x="0" y="25526"/>
                    <a:pt x="3660" y="16690"/>
                    <a:pt x="10175" y="10175"/>
                  </a:cubicBezTo>
                  <a:cubicBezTo>
                    <a:pt x="16690" y="3660"/>
                    <a:pt x="25526" y="0"/>
                    <a:pt x="34739" y="0"/>
                  </a:cubicBezTo>
                  <a:close/>
                </a:path>
              </a:pathLst>
            </a:custGeom>
            <a:solidFill>
              <a:srgbClr val="FBC613"/>
            </a:solidFill>
          </p:spPr>
        </p:sp>
        <p:sp>
          <p:nvSpPr>
            <p:cNvPr id="20" name="TextBox 20"/>
            <p:cNvSpPr txBox="1"/>
            <p:nvPr/>
          </p:nvSpPr>
          <p:spPr>
            <a:xfrm>
              <a:off x="0" y="-47625"/>
              <a:ext cx="4180148" cy="38304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3658079" y="5813590"/>
            <a:ext cx="10208907" cy="412055"/>
          </a:xfrm>
          <a:prstGeom prst="rect">
            <a:avLst/>
          </a:prstGeom>
        </p:spPr>
        <p:txBody>
          <a:bodyPr lIns="0" tIns="0" rIns="0" bIns="0" rtlCol="0" anchor="t">
            <a:spAutoFit/>
          </a:bodyPr>
          <a:lstStyle/>
          <a:p>
            <a:pPr algn="l">
              <a:lnSpc>
                <a:spcPts val="3250"/>
              </a:lnSpc>
            </a:pPr>
            <a:r>
              <a:rPr lang="en-US" sz="2600">
                <a:solidFill>
                  <a:srgbClr val="000000"/>
                </a:solidFill>
                <a:latin typeface="Helvetica World"/>
                <a:ea typeface="Helvetica World"/>
                <a:cs typeface="Helvetica World"/>
                <a:sym typeface="Helvetica World"/>
              </a:rPr>
              <a:t>scikit-image: Local Binary Patterns</a:t>
            </a:r>
          </a:p>
        </p:txBody>
      </p:sp>
      <p:sp>
        <p:nvSpPr>
          <p:cNvPr id="22" name="TextBox 22"/>
          <p:cNvSpPr txBox="1"/>
          <p:nvPr/>
        </p:nvSpPr>
        <p:spPr>
          <a:xfrm>
            <a:off x="3658079" y="7041057"/>
            <a:ext cx="10038054" cy="395953"/>
          </a:xfrm>
          <a:prstGeom prst="rect">
            <a:avLst/>
          </a:prstGeom>
        </p:spPr>
        <p:txBody>
          <a:bodyPr lIns="0" tIns="0" rIns="0" bIns="0" rtlCol="0" anchor="t">
            <a:spAutoFit/>
          </a:bodyPr>
          <a:lstStyle/>
          <a:p>
            <a:pPr algn="l">
              <a:lnSpc>
                <a:spcPts val="3195"/>
              </a:lnSpc>
            </a:pPr>
            <a:r>
              <a:rPr lang="en-US" sz="2556" dirty="0">
                <a:solidFill>
                  <a:srgbClr val="000000"/>
                </a:solidFill>
                <a:latin typeface="Helvetica World"/>
                <a:ea typeface="Helvetica World"/>
                <a:cs typeface="Helvetica World"/>
                <a:sym typeface="Helvetica World"/>
              </a:rPr>
              <a:t> </a:t>
            </a:r>
            <a:r>
              <a:rPr lang="en-US" sz="2556" dirty="0" err="1">
                <a:solidFill>
                  <a:srgbClr val="000000"/>
                </a:solidFill>
                <a:latin typeface="Helvetica World"/>
                <a:ea typeface="Helvetica World"/>
                <a:cs typeface="Helvetica World"/>
                <a:sym typeface="Helvetica World"/>
              </a:rPr>
              <a:t>Streamlit</a:t>
            </a:r>
            <a:r>
              <a:rPr lang="en-US" sz="2556" dirty="0">
                <a:solidFill>
                  <a:srgbClr val="000000"/>
                </a:solidFill>
                <a:latin typeface="Helvetica World"/>
                <a:ea typeface="Helvetica World"/>
                <a:cs typeface="Helvetica World"/>
                <a:sym typeface="Helvetica World"/>
              </a:rPr>
              <a:t> : Interface web</a:t>
            </a:r>
          </a:p>
        </p:txBody>
      </p:sp>
      <p:grpSp>
        <p:nvGrpSpPr>
          <p:cNvPr id="23" name="Group 23"/>
          <p:cNvGrpSpPr/>
          <p:nvPr/>
        </p:nvGrpSpPr>
        <p:grpSpPr>
          <a:xfrm>
            <a:off x="3231521" y="8117382"/>
            <a:ext cx="11365798" cy="917061"/>
            <a:chOff x="0" y="0"/>
            <a:chExt cx="4110190" cy="331635"/>
          </a:xfrm>
        </p:grpSpPr>
        <p:sp>
          <p:nvSpPr>
            <p:cNvPr id="24" name="Freeform 24"/>
            <p:cNvSpPr/>
            <p:nvPr/>
          </p:nvSpPr>
          <p:spPr>
            <a:xfrm>
              <a:off x="0" y="0"/>
              <a:ext cx="4110191" cy="331635"/>
            </a:xfrm>
            <a:custGeom>
              <a:avLst/>
              <a:gdLst/>
              <a:ahLst/>
              <a:cxnLst/>
              <a:rect l="l" t="t" r="r" b="b"/>
              <a:pathLst>
                <a:path w="4110191" h="331635">
                  <a:moveTo>
                    <a:pt x="34739" y="0"/>
                  </a:moveTo>
                  <a:lnTo>
                    <a:pt x="4075452" y="0"/>
                  </a:lnTo>
                  <a:cubicBezTo>
                    <a:pt x="4094637" y="0"/>
                    <a:pt x="4110191" y="15553"/>
                    <a:pt x="4110191" y="34739"/>
                  </a:cubicBezTo>
                  <a:lnTo>
                    <a:pt x="4110191" y="296896"/>
                  </a:lnTo>
                  <a:cubicBezTo>
                    <a:pt x="4110191" y="306109"/>
                    <a:pt x="4106531" y="314945"/>
                    <a:pt x="4100016" y="321460"/>
                  </a:cubicBezTo>
                  <a:cubicBezTo>
                    <a:pt x="4093501" y="327975"/>
                    <a:pt x="4084665" y="331635"/>
                    <a:pt x="4075452" y="331635"/>
                  </a:cubicBezTo>
                  <a:lnTo>
                    <a:pt x="34739" y="331635"/>
                  </a:lnTo>
                  <a:cubicBezTo>
                    <a:pt x="25526" y="331635"/>
                    <a:pt x="16690" y="327975"/>
                    <a:pt x="10175" y="321460"/>
                  </a:cubicBezTo>
                  <a:cubicBezTo>
                    <a:pt x="3660" y="314945"/>
                    <a:pt x="0" y="306109"/>
                    <a:pt x="0" y="296896"/>
                  </a:cubicBezTo>
                  <a:lnTo>
                    <a:pt x="0" y="34739"/>
                  </a:lnTo>
                  <a:cubicBezTo>
                    <a:pt x="0" y="25526"/>
                    <a:pt x="3660" y="16690"/>
                    <a:pt x="10175" y="10175"/>
                  </a:cubicBezTo>
                  <a:cubicBezTo>
                    <a:pt x="16690" y="3660"/>
                    <a:pt x="25526" y="0"/>
                    <a:pt x="34739" y="0"/>
                  </a:cubicBezTo>
                  <a:close/>
                </a:path>
              </a:pathLst>
            </a:custGeom>
            <a:solidFill>
              <a:srgbClr val="FBC613"/>
            </a:solidFill>
          </p:spPr>
        </p:sp>
        <p:sp>
          <p:nvSpPr>
            <p:cNvPr id="25" name="TextBox 25"/>
            <p:cNvSpPr txBox="1"/>
            <p:nvPr/>
          </p:nvSpPr>
          <p:spPr>
            <a:xfrm>
              <a:off x="0" y="-47625"/>
              <a:ext cx="4110190" cy="37926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3881540" y="8344276"/>
            <a:ext cx="10277210" cy="410818"/>
          </a:xfrm>
          <a:prstGeom prst="rect">
            <a:avLst/>
          </a:prstGeom>
        </p:spPr>
        <p:txBody>
          <a:bodyPr lIns="0" tIns="0" rIns="0" bIns="0" rtlCol="0" anchor="t">
            <a:spAutoFit/>
          </a:bodyPr>
          <a:lstStyle/>
          <a:p>
            <a:pPr algn="l">
              <a:lnSpc>
                <a:spcPts val="3239"/>
              </a:lnSpc>
            </a:pPr>
            <a:r>
              <a:rPr lang="en-US" sz="2591">
                <a:solidFill>
                  <a:srgbClr val="000000"/>
                </a:solidFill>
                <a:latin typeface="Helvetica World"/>
                <a:ea typeface="Helvetica World"/>
                <a:cs typeface="Helvetica World"/>
                <a:sym typeface="Helvetica World"/>
              </a:rPr>
              <a:t>NumPy : Calcul numérique</a:t>
            </a:r>
          </a:p>
        </p:txBody>
      </p:sp>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887650" y="-790375"/>
            <a:ext cx="8740875" cy="8740875"/>
          </a:xfrm>
          <a:custGeom>
            <a:avLst/>
            <a:gdLst/>
            <a:ahLst/>
            <a:cxnLst/>
            <a:rect l="l" t="t" r="r" b="b"/>
            <a:pathLst>
              <a:path w="8740875" h="8740875">
                <a:moveTo>
                  <a:pt x="8740875" y="0"/>
                </a:moveTo>
                <a:lnTo>
                  <a:pt x="0" y="0"/>
                </a:lnTo>
                <a:lnTo>
                  <a:pt x="0" y="8740875"/>
                </a:lnTo>
                <a:lnTo>
                  <a:pt x="8740875" y="8740875"/>
                </a:lnTo>
                <a:lnTo>
                  <a:pt x="874087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340525" y="2336500"/>
            <a:ext cx="8740875" cy="8740875"/>
          </a:xfrm>
          <a:custGeom>
            <a:avLst/>
            <a:gdLst/>
            <a:ahLst/>
            <a:cxnLst/>
            <a:rect l="l" t="t" r="r" b="b"/>
            <a:pathLst>
              <a:path w="8740875" h="8740875">
                <a:moveTo>
                  <a:pt x="0" y="8740875"/>
                </a:moveTo>
                <a:lnTo>
                  <a:pt x="8740875" y="8740875"/>
                </a:lnTo>
                <a:lnTo>
                  <a:pt x="8740875" y="0"/>
                </a:lnTo>
                <a:lnTo>
                  <a:pt x="0" y="0"/>
                </a:lnTo>
                <a:lnTo>
                  <a:pt x="0" y="874087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4631013" y="683475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457813" y="-662557"/>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7348807" y="-1501802"/>
            <a:ext cx="486295" cy="4114800"/>
          </a:xfrm>
          <a:custGeom>
            <a:avLst/>
            <a:gdLst/>
            <a:ahLst/>
            <a:cxnLst/>
            <a:rect l="l" t="t" r="r" b="b"/>
            <a:pathLst>
              <a:path w="486295" h="4114800">
                <a:moveTo>
                  <a:pt x="0" y="0"/>
                </a:moveTo>
                <a:lnTo>
                  <a:pt x="486294" y="0"/>
                </a:lnTo>
                <a:lnTo>
                  <a:pt x="4862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flipV="1">
            <a:off x="10452899" y="7674002"/>
            <a:ext cx="486295" cy="4114800"/>
          </a:xfrm>
          <a:custGeom>
            <a:avLst/>
            <a:gdLst/>
            <a:ahLst/>
            <a:cxnLst/>
            <a:rect l="l" t="t" r="r" b="b"/>
            <a:pathLst>
              <a:path w="486295" h="4114800">
                <a:moveTo>
                  <a:pt x="0" y="4114800"/>
                </a:moveTo>
                <a:lnTo>
                  <a:pt x="486294" y="4114800"/>
                </a:lnTo>
                <a:lnTo>
                  <a:pt x="486294"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7193422" y="2722816"/>
            <a:ext cx="2708372" cy="270837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7448021" y="3242957"/>
            <a:ext cx="2199175" cy="1537259"/>
          </a:xfrm>
          <a:prstGeom prst="rect">
            <a:avLst/>
          </a:prstGeom>
        </p:spPr>
        <p:txBody>
          <a:bodyPr lIns="0" tIns="0" rIns="0" bIns="0" rtlCol="0" anchor="t">
            <a:spAutoFit/>
          </a:bodyPr>
          <a:lstStyle/>
          <a:p>
            <a:pPr algn="ctr">
              <a:lnSpc>
                <a:spcPts val="12533"/>
              </a:lnSpc>
            </a:pPr>
            <a:r>
              <a:rPr lang="en-US" sz="8952">
                <a:solidFill>
                  <a:srgbClr val="000000"/>
                </a:solidFill>
                <a:latin typeface="Helvetica World"/>
                <a:ea typeface="Helvetica World"/>
                <a:cs typeface="Helvetica World"/>
                <a:sym typeface="Helvetica World"/>
              </a:rPr>
              <a:t>4</a:t>
            </a:r>
          </a:p>
        </p:txBody>
      </p:sp>
      <p:sp>
        <p:nvSpPr>
          <p:cNvPr id="12" name="TextBox 12"/>
          <p:cNvSpPr txBox="1"/>
          <p:nvPr/>
        </p:nvSpPr>
        <p:spPr>
          <a:xfrm>
            <a:off x="1812115" y="5202588"/>
            <a:ext cx="14429354" cy="1632169"/>
          </a:xfrm>
          <a:prstGeom prst="rect">
            <a:avLst/>
          </a:prstGeom>
        </p:spPr>
        <p:txBody>
          <a:bodyPr lIns="0" tIns="0" rIns="0" bIns="0" rtlCol="0" anchor="t">
            <a:spAutoFit/>
          </a:bodyPr>
          <a:lstStyle/>
          <a:p>
            <a:pPr algn="ctr">
              <a:lnSpc>
                <a:spcPts val="12926"/>
              </a:lnSpc>
              <a:spcBef>
                <a:spcPct val="0"/>
              </a:spcBef>
            </a:pPr>
            <a:r>
              <a:rPr lang="en-US" sz="9233" b="1">
                <a:solidFill>
                  <a:srgbClr val="11680C"/>
                </a:solidFill>
                <a:latin typeface="Times New Roman Bold"/>
                <a:ea typeface="Times New Roman Bold"/>
                <a:cs typeface="Times New Roman Bold"/>
                <a:sym typeface="Times New Roman Bold"/>
              </a:rPr>
              <a:t>Demonstration d’application</a:t>
            </a:r>
          </a:p>
        </p:txBody>
      </p:sp>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887650" y="-790375"/>
            <a:ext cx="8740875" cy="8740875"/>
          </a:xfrm>
          <a:custGeom>
            <a:avLst/>
            <a:gdLst/>
            <a:ahLst/>
            <a:cxnLst/>
            <a:rect l="l" t="t" r="r" b="b"/>
            <a:pathLst>
              <a:path w="8740875" h="8740875">
                <a:moveTo>
                  <a:pt x="8740875" y="0"/>
                </a:moveTo>
                <a:lnTo>
                  <a:pt x="0" y="0"/>
                </a:lnTo>
                <a:lnTo>
                  <a:pt x="0" y="8740875"/>
                </a:lnTo>
                <a:lnTo>
                  <a:pt x="8740875" y="8740875"/>
                </a:lnTo>
                <a:lnTo>
                  <a:pt x="874087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340525" y="2336500"/>
            <a:ext cx="8740875" cy="8740875"/>
          </a:xfrm>
          <a:custGeom>
            <a:avLst/>
            <a:gdLst/>
            <a:ahLst/>
            <a:cxnLst/>
            <a:rect l="l" t="t" r="r" b="b"/>
            <a:pathLst>
              <a:path w="8740875" h="8740875">
                <a:moveTo>
                  <a:pt x="0" y="8740875"/>
                </a:moveTo>
                <a:lnTo>
                  <a:pt x="8740875" y="8740875"/>
                </a:lnTo>
                <a:lnTo>
                  <a:pt x="8740875" y="0"/>
                </a:lnTo>
                <a:lnTo>
                  <a:pt x="0" y="0"/>
                </a:lnTo>
                <a:lnTo>
                  <a:pt x="0" y="874087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4631013" y="683475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V="1">
            <a:off x="-457813" y="-662557"/>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7348807" y="-1501802"/>
            <a:ext cx="486295" cy="4114800"/>
          </a:xfrm>
          <a:custGeom>
            <a:avLst/>
            <a:gdLst/>
            <a:ahLst/>
            <a:cxnLst/>
            <a:rect l="l" t="t" r="r" b="b"/>
            <a:pathLst>
              <a:path w="486295" h="4114800">
                <a:moveTo>
                  <a:pt x="0" y="0"/>
                </a:moveTo>
                <a:lnTo>
                  <a:pt x="486294" y="0"/>
                </a:lnTo>
                <a:lnTo>
                  <a:pt x="4862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flipV="1">
            <a:off x="10452899" y="7674002"/>
            <a:ext cx="486295" cy="4114800"/>
          </a:xfrm>
          <a:custGeom>
            <a:avLst/>
            <a:gdLst/>
            <a:ahLst/>
            <a:cxnLst/>
            <a:rect l="l" t="t" r="r" b="b"/>
            <a:pathLst>
              <a:path w="486295" h="4114800">
                <a:moveTo>
                  <a:pt x="0" y="4114800"/>
                </a:moveTo>
                <a:lnTo>
                  <a:pt x="486294" y="4114800"/>
                </a:lnTo>
                <a:lnTo>
                  <a:pt x="486294"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7193422" y="2722816"/>
            <a:ext cx="2708372" cy="270837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C613"/>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7448021" y="3242957"/>
            <a:ext cx="2199175" cy="1537259"/>
          </a:xfrm>
          <a:prstGeom prst="rect">
            <a:avLst/>
          </a:prstGeom>
        </p:spPr>
        <p:txBody>
          <a:bodyPr lIns="0" tIns="0" rIns="0" bIns="0" rtlCol="0" anchor="t">
            <a:spAutoFit/>
          </a:bodyPr>
          <a:lstStyle/>
          <a:p>
            <a:pPr algn="ctr">
              <a:lnSpc>
                <a:spcPts val="12533"/>
              </a:lnSpc>
            </a:pPr>
            <a:r>
              <a:rPr lang="en-US" sz="8952">
                <a:solidFill>
                  <a:srgbClr val="000000"/>
                </a:solidFill>
                <a:latin typeface="Helvetica World"/>
                <a:ea typeface="Helvetica World"/>
                <a:cs typeface="Helvetica World"/>
                <a:sym typeface="Helvetica World"/>
              </a:rPr>
              <a:t>5</a:t>
            </a:r>
          </a:p>
        </p:txBody>
      </p:sp>
      <p:sp>
        <p:nvSpPr>
          <p:cNvPr id="12" name="TextBox 12"/>
          <p:cNvSpPr txBox="1"/>
          <p:nvPr/>
        </p:nvSpPr>
        <p:spPr>
          <a:xfrm>
            <a:off x="6224794" y="5202588"/>
            <a:ext cx="5603995" cy="1632169"/>
          </a:xfrm>
          <a:prstGeom prst="rect">
            <a:avLst/>
          </a:prstGeom>
        </p:spPr>
        <p:txBody>
          <a:bodyPr lIns="0" tIns="0" rIns="0" bIns="0" rtlCol="0" anchor="t">
            <a:spAutoFit/>
          </a:bodyPr>
          <a:lstStyle/>
          <a:p>
            <a:pPr algn="ctr">
              <a:lnSpc>
                <a:spcPts val="12926"/>
              </a:lnSpc>
              <a:spcBef>
                <a:spcPct val="0"/>
              </a:spcBef>
            </a:pPr>
            <a:r>
              <a:rPr lang="en-US" sz="9233" b="1">
                <a:solidFill>
                  <a:srgbClr val="11680C"/>
                </a:solidFill>
                <a:latin typeface="Times New Roman Bold"/>
                <a:ea typeface="Times New Roman Bold"/>
                <a:cs typeface="Times New Roman Bold"/>
                <a:sym typeface="Times New Roman Bold"/>
              </a:rPr>
              <a:t>Conclusion</a:t>
            </a: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91911" y="1894608"/>
            <a:ext cx="14040385" cy="7693969"/>
            <a:chOff x="0" y="0"/>
            <a:chExt cx="1877885" cy="1029059"/>
          </a:xfrm>
        </p:grpSpPr>
        <p:sp>
          <p:nvSpPr>
            <p:cNvPr id="3" name="Freeform 3"/>
            <p:cNvSpPr/>
            <p:nvPr/>
          </p:nvSpPr>
          <p:spPr>
            <a:xfrm>
              <a:off x="0" y="0"/>
              <a:ext cx="1877885" cy="1029059"/>
            </a:xfrm>
            <a:custGeom>
              <a:avLst/>
              <a:gdLst/>
              <a:ahLst/>
              <a:cxnLst/>
              <a:rect l="l" t="t" r="r" b="b"/>
              <a:pathLst>
                <a:path w="1877885" h="1029059">
                  <a:moveTo>
                    <a:pt x="10770" y="0"/>
                  </a:moveTo>
                  <a:lnTo>
                    <a:pt x="1867115" y="0"/>
                  </a:lnTo>
                  <a:cubicBezTo>
                    <a:pt x="1869972" y="0"/>
                    <a:pt x="1872711" y="1135"/>
                    <a:pt x="1874731" y="3154"/>
                  </a:cubicBezTo>
                  <a:cubicBezTo>
                    <a:pt x="1876750" y="5174"/>
                    <a:pt x="1877885" y="7913"/>
                    <a:pt x="1877885" y="10770"/>
                  </a:cubicBezTo>
                  <a:lnTo>
                    <a:pt x="1877885" y="1018290"/>
                  </a:lnTo>
                  <a:cubicBezTo>
                    <a:pt x="1877885" y="1021146"/>
                    <a:pt x="1876750" y="1023885"/>
                    <a:pt x="1874731" y="1025905"/>
                  </a:cubicBezTo>
                  <a:cubicBezTo>
                    <a:pt x="1872711" y="1027925"/>
                    <a:pt x="1869972" y="1029059"/>
                    <a:pt x="1867115" y="1029059"/>
                  </a:cubicBezTo>
                  <a:lnTo>
                    <a:pt x="10770" y="1029059"/>
                  </a:lnTo>
                  <a:cubicBezTo>
                    <a:pt x="4822" y="1029059"/>
                    <a:pt x="0" y="1024237"/>
                    <a:pt x="0" y="1018290"/>
                  </a:cubicBezTo>
                  <a:lnTo>
                    <a:pt x="0" y="10770"/>
                  </a:lnTo>
                  <a:cubicBezTo>
                    <a:pt x="0" y="4822"/>
                    <a:pt x="4822" y="0"/>
                    <a:pt x="10770" y="0"/>
                  </a:cubicBezTo>
                  <a:close/>
                </a:path>
              </a:pathLst>
            </a:custGeom>
            <a:solidFill>
              <a:srgbClr val="FBC613"/>
            </a:solidFill>
          </p:spPr>
        </p:sp>
        <p:sp>
          <p:nvSpPr>
            <p:cNvPr id="4" name="TextBox 4"/>
            <p:cNvSpPr txBox="1"/>
            <p:nvPr/>
          </p:nvSpPr>
          <p:spPr>
            <a:xfrm>
              <a:off x="0" y="-47625"/>
              <a:ext cx="1877885" cy="107668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529844" y="-44582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flipV="1">
            <a:off x="14703044" y="6618024"/>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228453" y="6366332"/>
            <a:ext cx="4450389" cy="4450389"/>
          </a:xfrm>
          <a:custGeom>
            <a:avLst/>
            <a:gdLst/>
            <a:ahLst/>
            <a:cxnLst/>
            <a:rect l="l" t="t" r="r" b="b"/>
            <a:pathLst>
              <a:path w="4450389" h="4450389">
                <a:moveTo>
                  <a:pt x="0" y="0"/>
                </a:moveTo>
                <a:lnTo>
                  <a:pt x="4450389" y="0"/>
                </a:lnTo>
                <a:lnTo>
                  <a:pt x="4450389" y="4450390"/>
                </a:lnTo>
                <a:lnTo>
                  <a:pt x="0" y="44503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flipH="1" flipV="1">
            <a:off x="14066064" y="-529722"/>
            <a:ext cx="4450389" cy="4450389"/>
          </a:xfrm>
          <a:custGeom>
            <a:avLst/>
            <a:gdLst/>
            <a:ahLst/>
            <a:cxnLst/>
            <a:rect l="l" t="t" r="r" b="b"/>
            <a:pathLst>
              <a:path w="4450389" h="4450389">
                <a:moveTo>
                  <a:pt x="4450389" y="4450390"/>
                </a:moveTo>
                <a:lnTo>
                  <a:pt x="0" y="4450390"/>
                </a:lnTo>
                <a:lnTo>
                  <a:pt x="0" y="0"/>
                </a:lnTo>
                <a:lnTo>
                  <a:pt x="4450389" y="0"/>
                </a:lnTo>
                <a:lnTo>
                  <a:pt x="4450389" y="445039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2712716" y="2583320"/>
            <a:ext cx="12715495" cy="6289781"/>
          </a:xfrm>
          <a:prstGeom prst="rect">
            <a:avLst/>
          </a:prstGeom>
        </p:spPr>
        <p:txBody>
          <a:bodyPr lIns="0" tIns="0" rIns="0" bIns="0" rtlCol="0" anchor="t">
            <a:spAutoFit/>
          </a:bodyPr>
          <a:lstStyle/>
          <a:p>
            <a:pPr algn="just">
              <a:lnSpc>
                <a:spcPts val="4979"/>
              </a:lnSpc>
            </a:pPr>
            <a:r>
              <a:rPr lang="en-US" sz="3983">
                <a:solidFill>
                  <a:srgbClr val="000000"/>
                </a:solidFill>
                <a:latin typeface="Helvetica World"/>
                <a:ea typeface="Helvetica World"/>
                <a:cs typeface="Helvetica World"/>
                <a:sym typeface="Helvetica World"/>
              </a:rPr>
              <a:t>En résumé, ce projet a abouti à une solution robuste capable d'identifier un écrivain avec précision. En combinant la puissance du LBP pour l'extraction de textures, du PCA pour l'optimisation des données et du SVM pour la classification, nous avons créé un pipeline de traitement complet. L'interface Streamlit vient couronner ce travail en offrant un outil interactif et prêt à l'emploi, prouvant que l'intelligence artificielle peut transformer une simple image manuscrite en une donnée d'identification fiable et rapide.</a:t>
            </a:r>
          </a:p>
        </p:txBody>
      </p:sp>
      <p:sp>
        <p:nvSpPr>
          <p:cNvPr id="10" name="TextBox 10"/>
          <p:cNvSpPr txBox="1"/>
          <p:nvPr/>
        </p:nvSpPr>
        <p:spPr>
          <a:xfrm>
            <a:off x="5430221" y="736623"/>
            <a:ext cx="16444435" cy="958850"/>
          </a:xfrm>
          <a:prstGeom prst="rect">
            <a:avLst/>
          </a:prstGeom>
        </p:spPr>
        <p:txBody>
          <a:bodyPr lIns="0" tIns="0" rIns="0" bIns="0" rtlCol="0" anchor="t">
            <a:spAutoFit/>
          </a:bodyPr>
          <a:lstStyle/>
          <a:p>
            <a:pPr algn="l">
              <a:lnSpc>
                <a:spcPts val="6999"/>
              </a:lnSpc>
            </a:pPr>
            <a:r>
              <a:rPr lang="en-US" sz="6999" b="1" spc="209">
                <a:solidFill>
                  <a:srgbClr val="11680C"/>
                </a:solidFill>
                <a:latin typeface="Times New Roman Bold"/>
                <a:ea typeface="Times New Roman Bold"/>
                <a:cs typeface="Times New Roman Bold"/>
                <a:sym typeface="Times New Roman Bold"/>
              </a:rPr>
              <a:t>CONCLUSION</a:t>
            </a:r>
          </a:p>
        </p:txBody>
      </p:sp>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94939" y="2867114"/>
            <a:ext cx="12498123" cy="4714696"/>
          </a:xfrm>
          <a:prstGeom prst="rect">
            <a:avLst/>
          </a:prstGeom>
        </p:spPr>
        <p:txBody>
          <a:bodyPr lIns="0" tIns="0" rIns="0" bIns="0" rtlCol="0" anchor="t">
            <a:spAutoFit/>
          </a:bodyPr>
          <a:lstStyle/>
          <a:p>
            <a:pPr algn="ctr">
              <a:lnSpc>
                <a:spcPts val="12000"/>
              </a:lnSpc>
            </a:pPr>
            <a:r>
              <a:rPr lang="en-US" sz="12000" spc="359">
                <a:solidFill>
                  <a:srgbClr val="11680C"/>
                </a:solidFill>
                <a:latin typeface="Times New Roman"/>
                <a:ea typeface="Times New Roman"/>
                <a:cs typeface="Times New Roman"/>
                <a:sym typeface="Times New Roman"/>
              </a:rPr>
              <a:t>MERCI DE VOTRE ATTENTION</a:t>
            </a:r>
          </a:p>
        </p:txBody>
      </p:sp>
      <p:sp>
        <p:nvSpPr>
          <p:cNvPr id="3" name="Freeform 3"/>
          <p:cNvSpPr/>
          <p:nvPr/>
        </p:nvSpPr>
        <p:spPr>
          <a:xfrm flipH="1">
            <a:off x="9830752" y="-790375"/>
            <a:ext cx="8740875" cy="8740875"/>
          </a:xfrm>
          <a:custGeom>
            <a:avLst/>
            <a:gdLst/>
            <a:ahLst/>
            <a:cxnLst/>
            <a:rect l="l" t="t" r="r" b="b"/>
            <a:pathLst>
              <a:path w="8740875" h="8740875">
                <a:moveTo>
                  <a:pt x="8740875" y="0"/>
                </a:moveTo>
                <a:lnTo>
                  <a:pt x="0" y="0"/>
                </a:lnTo>
                <a:lnTo>
                  <a:pt x="0" y="8740875"/>
                </a:lnTo>
                <a:lnTo>
                  <a:pt x="8740875" y="8740875"/>
                </a:lnTo>
                <a:lnTo>
                  <a:pt x="8740875"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340525" y="2336500"/>
            <a:ext cx="8740875" cy="8740875"/>
          </a:xfrm>
          <a:custGeom>
            <a:avLst/>
            <a:gdLst/>
            <a:ahLst/>
            <a:cxnLst/>
            <a:rect l="l" t="t" r="r" b="b"/>
            <a:pathLst>
              <a:path w="8740875" h="8740875">
                <a:moveTo>
                  <a:pt x="0" y="8740875"/>
                </a:moveTo>
                <a:lnTo>
                  <a:pt x="8740875" y="8740875"/>
                </a:lnTo>
                <a:lnTo>
                  <a:pt x="8740875" y="0"/>
                </a:lnTo>
                <a:lnTo>
                  <a:pt x="0" y="0"/>
                </a:lnTo>
                <a:lnTo>
                  <a:pt x="0" y="874087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a:off x="14631013" y="683475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V="1">
            <a:off x="-457813" y="-662557"/>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rot="5400000">
            <a:off x="7348807" y="-1501802"/>
            <a:ext cx="486295" cy="4114800"/>
          </a:xfrm>
          <a:custGeom>
            <a:avLst/>
            <a:gdLst/>
            <a:ahLst/>
            <a:cxnLst/>
            <a:rect l="l" t="t" r="r" b="b"/>
            <a:pathLst>
              <a:path w="486295" h="4114800">
                <a:moveTo>
                  <a:pt x="0" y="0"/>
                </a:moveTo>
                <a:lnTo>
                  <a:pt x="486294" y="0"/>
                </a:lnTo>
                <a:lnTo>
                  <a:pt x="4862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rot="5400000" flipV="1">
            <a:off x="10452899" y="7674002"/>
            <a:ext cx="486295" cy="4114800"/>
          </a:xfrm>
          <a:custGeom>
            <a:avLst/>
            <a:gdLst/>
            <a:ahLst/>
            <a:cxnLst/>
            <a:rect l="l" t="t" r="r" b="b"/>
            <a:pathLst>
              <a:path w="486295" h="4114800">
                <a:moveTo>
                  <a:pt x="0" y="4114800"/>
                </a:moveTo>
                <a:lnTo>
                  <a:pt x="486294" y="4114800"/>
                </a:lnTo>
                <a:lnTo>
                  <a:pt x="486294"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460</Words>
  <Application>Microsoft Office PowerPoint</Application>
  <PresentationFormat>Custom</PresentationFormat>
  <Paragraphs>83</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Arimo</vt:lpstr>
      <vt:lpstr>Times New Roman</vt:lpstr>
      <vt:lpstr>Helvetica World</vt:lpstr>
      <vt:lpstr>Calibri</vt:lpstr>
      <vt:lpstr>Arial</vt:lpstr>
      <vt:lpstr>Times New Roman Bold</vt:lpstr>
      <vt:lpstr>Helvetica World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Yellow Modern Business Proposal Presentation</dc:title>
  <dc:creator>AMINE LOUHANY</dc:creator>
  <cp:lastModifiedBy>CYBORG19</cp:lastModifiedBy>
  <cp:revision>2</cp:revision>
  <dcterms:created xsi:type="dcterms:W3CDTF">2006-08-16T00:00:00Z</dcterms:created>
  <dcterms:modified xsi:type="dcterms:W3CDTF">2026-03-14T04:50:26Z</dcterms:modified>
  <dc:identifier>DAHD37ochXU</dc:identifier>
</cp:coreProperties>
</file>